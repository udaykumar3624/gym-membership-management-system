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68" r:id="rId2"/>
    <p:sldId id="274" r:id="rId3"/>
    <p:sldId id="533" r:id="rId4"/>
    <p:sldId id="275" r:id="rId5"/>
    <p:sldId id="523" r:id="rId6"/>
    <p:sldId id="524" r:id="rId7"/>
    <p:sldId id="534" r:id="rId8"/>
    <p:sldId id="525" r:id="rId9"/>
    <p:sldId id="527" r:id="rId10"/>
    <p:sldId id="528" r:id="rId11"/>
    <p:sldId id="535" r:id="rId12"/>
    <p:sldId id="529" r:id="rId13"/>
    <p:sldId id="539" r:id="rId14"/>
    <p:sldId id="531" r:id="rId15"/>
    <p:sldId id="526" r:id="rId16"/>
    <p:sldId id="540" r:id="rId17"/>
    <p:sldId id="541" r:id="rId18"/>
    <p:sldId id="256" r:id="rId19"/>
    <p:sldId id="549" r:id="rId20"/>
    <p:sldId id="550" r:id="rId21"/>
    <p:sldId id="551" r:id="rId22"/>
    <p:sldId id="546" r:id="rId23"/>
    <p:sldId id="547" r:id="rId24"/>
    <p:sldId id="257" r:id="rId25"/>
    <p:sldId id="258" r:id="rId26"/>
    <p:sldId id="259" r:id="rId27"/>
    <p:sldId id="260" r:id="rId28"/>
    <p:sldId id="261" r:id="rId29"/>
    <p:sldId id="262" r:id="rId30"/>
    <p:sldId id="548" r:id="rId31"/>
    <p:sldId id="536" r:id="rId32"/>
    <p:sldId id="53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DE6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44277-2E17-4069-93C5-C457732E12C6}" v="3" dt="2026-09-28T06:34:20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24" autoAdjust="0"/>
  </p:normalViewPr>
  <p:slideViewPr>
    <p:cSldViewPr showGuides="1">
      <p:cViewPr varScale="1">
        <p:scale>
          <a:sx n="82" d="100"/>
          <a:sy n="82" d="100"/>
        </p:scale>
        <p:origin x="1061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 Rallapalli" userId="3044615f22a3142a" providerId="LiveId" clId="{922261DD-221A-4DC2-B721-3386CEB82606}"/>
    <pc:docChg chg="undo custSel addSld modSld sldOrd">
      <pc:chgData name="Jayanth Rallapalli" userId="3044615f22a3142a" providerId="LiveId" clId="{922261DD-221A-4DC2-B721-3386CEB82606}" dt="2026-09-28T06:36:55.434" v="117" actId="20577"/>
      <pc:docMkLst>
        <pc:docMk/>
      </pc:docMkLst>
      <pc:sldChg chg="addSp delSp modSp mod">
        <pc:chgData name="Jayanth Rallapalli" userId="3044615f22a3142a" providerId="LiveId" clId="{922261DD-221A-4DC2-B721-3386CEB82606}" dt="2026-09-28T06:14:14.171" v="2"/>
        <pc:sldMkLst>
          <pc:docMk/>
          <pc:sldMk cId="0" sldId="268"/>
        </pc:sldMkLst>
        <pc:spChg chg="add del mod">
          <ac:chgData name="Jayanth Rallapalli" userId="3044615f22a3142a" providerId="LiveId" clId="{922261DD-221A-4DC2-B721-3386CEB82606}" dt="2026-09-28T06:14:14.171" v="2"/>
          <ac:spMkLst>
            <pc:docMk/>
            <pc:sldMk cId="0" sldId="268"/>
            <ac:spMk id="2" creationId="{546A1A48-6AFB-C831-1E69-2D38E704EACA}"/>
          </ac:spMkLst>
        </pc:spChg>
      </pc:sldChg>
      <pc:sldChg chg="addSp delSp modSp mod">
        <pc:chgData name="Jayanth Rallapalli" userId="3044615f22a3142a" providerId="LiveId" clId="{922261DD-221A-4DC2-B721-3386CEB82606}" dt="2026-09-28T06:33:21.683" v="71" actId="1076"/>
        <pc:sldMkLst>
          <pc:docMk/>
          <pc:sldMk cId="2024132190" sldId="531"/>
        </pc:sldMkLst>
        <pc:picChg chg="add del mod">
          <ac:chgData name="Jayanth Rallapalli" userId="3044615f22a3142a" providerId="LiveId" clId="{922261DD-221A-4DC2-B721-3386CEB82606}" dt="2026-09-28T06:17:15.439" v="7" actId="478"/>
          <ac:picMkLst>
            <pc:docMk/>
            <pc:sldMk cId="2024132190" sldId="531"/>
            <ac:picMk id="2" creationId="{198A4D5B-41DE-F1B7-DA07-B04B0E8103C6}"/>
          </ac:picMkLst>
        </pc:picChg>
        <pc:picChg chg="del">
          <ac:chgData name="Jayanth Rallapalli" userId="3044615f22a3142a" providerId="LiveId" clId="{922261DD-221A-4DC2-B721-3386CEB82606}" dt="2026-09-28T06:17:17.969" v="8" actId="478"/>
          <ac:picMkLst>
            <pc:docMk/>
            <pc:sldMk cId="2024132190" sldId="531"/>
            <ac:picMk id="3" creationId="{258B1481-F035-4C6D-E94B-EF3BA417A387}"/>
          </ac:picMkLst>
        </pc:picChg>
        <pc:picChg chg="add del mod">
          <ac:chgData name="Jayanth Rallapalli" userId="3044615f22a3142a" providerId="LiveId" clId="{922261DD-221A-4DC2-B721-3386CEB82606}" dt="2026-09-28T06:20:47.150" v="27" actId="478"/>
          <ac:picMkLst>
            <pc:docMk/>
            <pc:sldMk cId="2024132190" sldId="531"/>
            <ac:picMk id="5" creationId="{D644CC43-928C-793C-EB4E-C1B1FCF813AE}"/>
          </ac:picMkLst>
        </pc:picChg>
        <pc:picChg chg="add del mod">
          <ac:chgData name="Jayanth Rallapalli" userId="3044615f22a3142a" providerId="LiveId" clId="{922261DD-221A-4DC2-B721-3386CEB82606}" dt="2026-09-28T06:21:45.954" v="39" actId="478"/>
          <ac:picMkLst>
            <pc:docMk/>
            <pc:sldMk cId="2024132190" sldId="531"/>
            <ac:picMk id="12" creationId="{00081A0D-3022-DDD2-53CC-903AF165B0EB}"/>
          </ac:picMkLst>
        </pc:picChg>
        <pc:picChg chg="add mod">
          <ac:chgData name="Jayanth Rallapalli" userId="3044615f22a3142a" providerId="LiveId" clId="{922261DD-221A-4DC2-B721-3386CEB82606}" dt="2026-09-28T06:33:21.683" v="71" actId="1076"/>
          <ac:picMkLst>
            <pc:docMk/>
            <pc:sldMk cId="2024132190" sldId="531"/>
            <ac:picMk id="14" creationId="{15938764-8856-F9D3-D9F6-35CCD61DBBB0}"/>
          </ac:picMkLst>
        </pc:picChg>
        <pc:picChg chg="mod">
          <ac:chgData name="Jayanth Rallapalli" userId="3044615f22a3142a" providerId="LiveId" clId="{922261DD-221A-4DC2-B721-3386CEB82606}" dt="2026-09-28T06:26:59.210" v="50" actId="1076"/>
          <ac:picMkLst>
            <pc:docMk/>
            <pc:sldMk cId="2024132190" sldId="531"/>
            <ac:picMk id="2050" creationId="{E843E96A-C12A-F5F3-5BB5-740AF32957F6}"/>
          </ac:picMkLst>
        </pc:picChg>
      </pc:sldChg>
      <pc:sldChg chg="ord">
        <pc:chgData name="Jayanth Rallapalli" userId="3044615f22a3142a" providerId="LiveId" clId="{922261DD-221A-4DC2-B721-3386CEB82606}" dt="2026-09-28T06:19:50.318" v="26"/>
        <pc:sldMkLst>
          <pc:docMk/>
          <pc:sldMk cId="1250356904" sldId="537"/>
        </pc:sldMkLst>
      </pc:sldChg>
      <pc:sldChg chg="addSp delSp modSp new mod">
        <pc:chgData name="Jayanth Rallapalli" userId="3044615f22a3142a" providerId="LiveId" clId="{922261DD-221A-4DC2-B721-3386CEB82606}" dt="2026-09-28T06:36:55.434" v="117" actId="20577"/>
        <pc:sldMkLst>
          <pc:docMk/>
          <pc:sldMk cId="2564407170" sldId="538"/>
        </pc:sldMkLst>
        <pc:spChg chg="del">
          <ac:chgData name="Jayanth Rallapalli" userId="3044615f22a3142a" providerId="LiveId" clId="{922261DD-221A-4DC2-B721-3386CEB82606}" dt="2026-09-28T06:22:35.297" v="40" actId="478"/>
          <ac:spMkLst>
            <pc:docMk/>
            <pc:sldMk cId="2564407170" sldId="538"/>
            <ac:spMk id="2" creationId="{06431B56-4988-E483-FCF2-5235BC4A0863}"/>
          </ac:spMkLst>
        </pc:spChg>
        <pc:spChg chg="del">
          <ac:chgData name="Jayanth Rallapalli" userId="3044615f22a3142a" providerId="LiveId" clId="{922261DD-221A-4DC2-B721-3386CEB82606}" dt="2026-09-28T06:22:41.147" v="41" actId="478"/>
          <ac:spMkLst>
            <pc:docMk/>
            <pc:sldMk cId="2564407170" sldId="538"/>
            <ac:spMk id="3" creationId="{633059B0-BD8F-6D27-EAFC-0FBC2B2BD663}"/>
          </ac:spMkLst>
        </pc:spChg>
        <pc:spChg chg="add del mod">
          <ac:chgData name="Jayanth Rallapalli" userId="3044615f22a3142a" providerId="LiveId" clId="{922261DD-221A-4DC2-B721-3386CEB82606}" dt="2026-09-28T06:24:52.336" v="48"/>
          <ac:spMkLst>
            <pc:docMk/>
            <pc:sldMk cId="2564407170" sldId="538"/>
            <ac:spMk id="8" creationId="{9B894B9C-FB8C-4AE3-99EE-A2BCC9313901}"/>
          </ac:spMkLst>
        </pc:spChg>
        <pc:spChg chg="mod">
          <ac:chgData name="Jayanth Rallapalli" userId="3044615f22a3142a" providerId="LiveId" clId="{922261DD-221A-4DC2-B721-3386CEB82606}" dt="2026-09-28T06:34:26.159" v="82" actId="20577"/>
          <ac:spMkLst>
            <pc:docMk/>
            <pc:sldMk cId="2564407170" sldId="538"/>
            <ac:spMk id="11" creationId="{8AE1D0D3-E4DE-2163-B9D2-3D878208FD58}"/>
          </ac:spMkLst>
        </pc:spChg>
        <pc:spChg chg="mod">
          <ac:chgData name="Jayanth Rallapalli" userId="3044615f22a3142a" providerId="LiveId" clId="{922261DD-221A-4DC2-B721-3386CEB82606}" dt="2026-09-28T06:36:55.434" v="117" actId="20577"/>
          <ac:spMkLst>
            <pc:docMk/>
            <pc:sldMk cId="2564407170" sldId="538"/>
            <ac:spMk id="13" creationId="{FED0B6BD-FBED-5213-1B42-7BA714819E30}"/>
          </ac:spMkLst>
        </pc:spChg>
        <pc:grpChg chg="add mod">
          <ac:chgData name="Jayanth Rallapalli" userId="3044615f22a3142a" providerId="LiveId" clId="{922261DD-221A-4DC2-B721-3386CEB82606}" dt="2026-09-28T06:34:20.209" v="72"/>
          <ac:grpSpMkLst>
            <pc:docMk/>
            <pc:sldMk cId="2564407170" sldId="538"/>
            <ac:grpSpMk id="9" creationId="{E28EFF3B-1FB8-D15D-4337-E7067549338E}"/>
          </ac:grpSpMkLst>
        </pc:grpChg>
        <pc:grpChg chg="mod">
          <ac:chgData name="Jayanth Rallapalli" userId="3044615f22a3142a" providerId="LiveId" clId="{922261DD-221A-4DC2-B721-3386CEB82606}" dt="2026-09-28T06:34:20.209" v="72"/>
          <ac:grpSpMkLst>
            <pc:docMk/>
            <pc:sldMk cId="2564407170" sldId="538"/>
            <ac:grpSpMk id="10" creationId="{BA01ED45-02FD-5A10-764C-5194AE8818C7}"/>
          </ac:grpSpMkLst>
        </pc:grpChg>
        <pc:picChg chg="mod">
          <ac:chgData name="Jayanth Rallapalli" userId="3044615f22a3142a" providerId="LiveId" clId="{922261DD-221A-4DC2-B721-3386CEB82606}" dt="2026-09-28T06:34:20.209" v="72"/>
          <ac:picMkLst>
            <pc:docMk/>
            <pc:sldMk cId="2564407170" sldId="538"/>
            <ac:picMk id="12" creationId="{43D13917-BF78-93F3-14DD-58379852316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600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878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01-10-2026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01-10-2026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65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01-10-2026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55440" y="1628800"/>
            <a:ext cx="10515600" cy="446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  <a:defRPr sz="2500" b="1">
                <a:latin typeface="Book Antiqua"/>
              </a:defRPr>
            </a:pPr>
            <a:r>
              <a:rPr dirty="0">
                <a:solidFill>
                  <a:schemeClr val="tx2"/>
                </a:solidFill>
              </a:rPr>
              <a:t>Project Review Meeting-I</a:t>
            </a:r>
            <a:endParaRPr lang="en-US" sz="2800" b="1" dirty="0">
              <a:solidFill>
                <a:schemeClr val="tx2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3000" b="1">
                <a:latin typeface="Book Antiqua"/>
              </a:defRPr>
            </a:pPr>
            <a:r>
              <a:rPr lang="en-US" dirty="0">
                <a:solidFill>
                  <a:schemeClr val="accent2"/>
                </a:solidFill>
              </a:rPr>
              <a:t>Gym Membership Management System</a:t>
            </a:r>
          </a:p>
          <a:p>
            <a:pPr algn="ctr">
              <a:spcAft>
                <a:spcPts val="700"/>
              </a:spcAft>
              <a:defRPr sz="3000" b="1">
                <a:latin typeface="Book Antiqua"/>
              </a:defRPr>
            </a:pPr>
            <a:r>
              <a:rPr lang="en-US" sz="1700" b="1" dirty="0">
                <a:solidFill>
                  <a:srgbClr val="2C2821"/>
                </a:solidFill>
                <a:latin typeface="Maiandra GD" panose="020E0502030308020204" pitchFamily="34" charset="0"/>
                <a:ea typeface="Lora Bold" pitchFamily="34" charset="-122"/>
                <a:cs typeface="Lora Bold" pitchFamily="34" charset="-120"/>
              </a:rPr>
              <a:t>DBMS Cornerstone Project – Project 18</a:t>
            </a:r>
            <a:endParaRPr lang="en-US" dirty="0">
              <a:solidFill>
                <a:schemeClr val="accent2"/>
              </a:solidFill>
            </a:endParaRPr>
          </a:p>
          <a:p>
            <a:pPr>
              <a:spcAft>
                <a:spcPts val="700"/>
              </a:spcAft>
              <a:defRPr sz="3000" b="1">
                <a:latin typeface="Book Antiqua"/>
              </a:defRPr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           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Presented by</a:t>
            </a: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                    1)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R.  Jayanth                                      25B11CS805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                 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2)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K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Shivaranjith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Kumar          25B11CS361</a:t>
            </a: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                    3)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C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Ranjith Kumar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                       25B11CS143</a:t>
            </a: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                   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4)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R. P.  Uday Kumar                        25B11CS814</a:t>
            </a: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US" sz="1400" b="1" dirty="0">
                <a:latin typeface="Book Antiqua"/>
              </a:rPr>
              <a:t>                               </a:t>
            </a: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US" sz="1400" b="1" dirty="0">
                <a:solidFill>
                  <a:srgbClr val="002060"/>
                </a:solidFill>
                <a:latin typeface="Book Antiqua"/>
                <a:cs typeface="Times New Roman" pitchFamily="18" charset="0"/>
              </a:rPr>
              <a:t>                     </a:t>
            </a:r>
            <a:r>
              <a:rPr lang="en-IN" sz="2000" b="1" dirty="0">
                <a:solidFill>
                  <a:srgbClr val="002060"/>
                </a:solidFill>
                <a:latin typeface="Book Antiqua" panose="02040602050305030304" pitchFamily="18" charset="0"/>
                <a:cs typeface="Times New Roman" pitchFamily="18" charset="0"/>
              </a:rPr>
              <a:t>Date of Presentation: 13-08-2026</a:t>
            </a:r>
            <a:endParaRPr lang="en-US" sz="2000" b="1" dirty="0"/>
          </a:p>
          <a:p>
            <a:pPr algn="just">
              <a:spcAft>
                <a:spcPts val="700"/>
              </a:spcAft>
              <a:defRPr sz="1400" b="0">
                <a:latin typeface="Book Antiqua"/>
              </a:defRPr>
            </a:pPr>
            <a:r>
              <a:rPr lang="en-IN" sz="1400" b="1" dirty="0">
                <a:solidFill>
                  <a:srgbClr val="0070C0"/>
                </a:solidFill>
                <a:latin typeface="Book Antiqua" panose="02040602050305030304" pitchFamily="18" charset="0"/>
                <a:cs typeface="Times New Roman" pitchFamily="18" charset="0"/>
              </a:rPr>
              <a:t>                                                            </a:t>
            </a:r>
            <a:endParaRPr lang="en-IN" sz="20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Aft>
                <a:spcPts val="700"/>
              </a:spcAft>
              <a:defRPr sz="1400" b="0">
                <a:latin typeface="Book Antiqua"/>
              </a:defRPr>
            </a:pPr>
            <a:r>
              <a:rPr lang="en-IN" dirty="0"/>
              <a:t>                                              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EB84-E0E0-0013-8E77-D538AC7F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F79D03B1-F1AC-4899-ADFB-527E0975B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2FA59DD-D7B6-3464-FF72-7FB576D8DF99}"/>
              </a:ext>
            </a:extLst>
          </p:cNvPr>
          <p:cNvGrpSpPr/>
          <p:nvPr/>
        </p:nvGrpSpPr>
        <p:grpSpPr>
          <a:xfrm>
            <a:off x="3276599" y="199801"/>
            <a:ext cx="6055482" cy="1261107"/>
            <a:chOff x="13004829" y="1407596"/>
            <a:chExt cx="6141489" cy="19093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1464AA6-5F92-EA51-96BD-16B8B56D974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F454BB65-2A62-9FEB-E165-F5647C5AC72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09C1539B-A5B3-EC7E-8306-9BFBD088AA2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40CD98-B0CA-F073-0F20-BAAF700804FE}"/>
                </a:ext>
              </a:extLst>
            </p:cNvPr>
            <p:cNvSpPr/>
            <p:nvPr/>
          </p:nvSpPr>
          <p:spPr>
            <a:xfrm>
              <a:off x="13185154" y="1773658"/>
              <a:ext cx="5635331" cy="698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  <a:sym typeface="Arial" panose="020B0604020202020204"/>
                </a:rPr>
                <a:t>PROBLEM STATEMENT</a:t>
              </a:r>
            </a:p>
          </p:txBody>
        </p:sp>
      </p:grpSp>
      <p:sp>
        <p:nvSpPr>
          <p:cNvPr id="8" name="Shape 3">
            <a:extLst>
              <a:ext uri="{FF2B5EF4-FFF2-40B4-BE49-F238E27FC236}">
                <a16:creationId xmlns:a16="http://schemas.microsoft.com/office/drawing/2014/main" id="{80230CF1-AB21-A3F1-82D9-E95F3527A12B}"/>
              </a:ext>
            </a:extLst>
          </p:cNvPr>
          <p:cNvSpPr/>
          <p:nvPr/>
        </p:nvSpPr>
        <p:spPr>
          <a:xfrm>
            <a:off x="548269" y="1612999"/>
            <a:ext cx="5469098" cy="4645124"/>
          </a:xfrm>
          <a:prstGeom prst="roundRect">
            <a:avLst>
              <a:gd name="adj" fmla="val 507"/>
            </a:avLst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FC4A1ED-415E-9E80-241F-2D0BF6F76BD0}"/>
              </a:ext>
            </a:extLst>
          </p:cNvPr>
          <p:cNvSpPr/>
          <p:nvPr/>
        </p:nvSpPr>
        <p:spPr>
          <a:xfrm>
            <a:off x="705328" y="1762224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latin typeface="Alice" pitchFamily="34" charset="0"/>
                <a:ea typeface="Alice" pitchFamily="34" charset="-122"/>
                <a:cs typeface="Alice" pitchFamily="34" charset="-120"/>
              </a:rPr>
              <a:t>Current Challenges</a:t>
            </a:r>
            <a:endParaRPr lang="en-US" sz="15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607BD9D-9303-7344-5735-3A7A3C20E732}"/>
              </a:ext>
            </a:extLst>
          </p:cNvPr>
          <p:cNvSpPr/>
          <p:nvPr/>
        </p:nvSpPr>
        <p:spPr>
          <a:xfrm>
            <a:off x="705328" y="2262088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C099083-BE39-58AA-81CD-91C95D009F10}"/>
              </a:ext>
            </a:extLst>
          </p:cNvPr>
          <p:cNvSpPr/>
          <p:nvPr/>
        </p:nvSpPr>
        <p:spPr>
          <a:xfrm>
            <a:off x="933030" y="2175669"/>
            <a:ext cx="492727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Manual gym record management is </a:t>
            </a: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time-consuming and error-prone</a:t>
            </a:r>
            <a:endParaRPr lang="en-US" sz="12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928C4A7C-4AB3-43DB-5FE4-FE7E34E1EE6A}"/>
              </a:ext>
            </a:extLst>
          </p:cNvPr>
          <p:cNvSpPr/>
          <p:nvPr/>
        </p:nvSpPr>
        <p:spPr>
          <a:xfrm>
            <a:off x="705328" y="3050877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91ACD39-F8DA-1FCC-B2DB-862ECE4312D0}"/>
              </a:ext>
            </a:extLst>
          </p:cNvPr>
          <p:cNvSpPr/>
          <p:nvPr/>
        </p:nvSpPr>
        <p:spPr>
          <a:xfrm>
            <a:off x="933030" y="2964458"/>
            <a:ext cx="492727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Difficulty maintaining </a:t>
            </a: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accurate member information</a:t>
            </a: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 across departments</a:t>
            </a:r>
            <a:endParaRPr lang="en-US" sz="12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8DC681E6-92C7-3FF2-6D9B-8A5F9A3F5B19}"/>
              </a:ext>
            </a:extLst>
          </p:cNvPr>
          <p:cNvSpPr/>
          <p:nvPr/>
        </p:nvSpPr>
        <p:spPr>
          <a:xfrm>
            <a:off x="705328" y="3839666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913E8DE7-6F2F-0E4D-06F6-E0D6E549896E}"/>
              </a:ext>
            </a:extLst>
          </p:cNvPr>
          <p:cNvSpPr/>
          <p:nvPr/>
        </p:nvSpPr>
        <p:spPr>
          <a:xfrm>
            <a:off x="933030" y="3753247"/>
            <a:ext cx="492727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Payment tracking is </a:t>
            </a: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disorganized and inconsistent</a:t>
            </a:r>
            <a:endParaRPr lang="en-US" sz="12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B520AA68-5018-194A-3246-D6365F705D89}"/>
              </a:ext>
            </a:extLst>
          </p:cNvPr>
          <p:cNvSpPr/>
          <p:nvPr/>
        </p:nvSpPr>
        <p:spPr>
          <a:xfrm>
            <a:off x="705328" y="4383286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7F7FD136-97C6-C0FA-B17C-819D75990E05}"/>
              </a:ext>
            </a:extLst>
          </p:cNvPr>
          <p:cNvSpPr/>
          <p:nvPr/>
        </p:nvSpPr>
        <p:spPr>
          <a:xfrm>
            <a:off x="933030" y="4296866"/>
            <a:ext cx="492727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Attendance records are </a:t>
            </a: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scattered</a:t>
            </a: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 and hard to retrieve on demand</a:t>
            </a:r>
            <a:endParaRPr lang="en-US" sz="120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10836703-5107-A017-9413-E8E729D6DB13}"/>
              </a:ext>
            </a:extLst>
          </p:cNvPr>
          <p:cNvSpPr/>
          <p:nvPr/>
        </p:nvSpPr>
        <p:spPr>
          <a:xfrm>
            <a:off x="705328" y="4926905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402C52DE-1744-6555-2D90-FD002D3FF2BF}"/>
              </a:ext>
            </a:extLst>
          </p:cNvPr>
          <p:cNvSpPr/>
          <p:nvPr/>
        </p:nvSpPr>
        <p:spPr>
          <a:xfrm>
            <a:off x="933030" y="4840486"/>
            <a:ext cx="492727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Duplicate and inconsistent data</a:t>
            </a: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 across multiple record sets</a:t>
            </a:r>
            <a:endParaRPr lang="en-US" sz="12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C9F003B9-DC87-DD89-97C7-782CF582E74D}"/>
              </a:ext>
            </a:extLst>
          </p:cNvPr>
          <p:cNvSpPr/>
          <p:nvPr/>
        </p:nvSpPr>
        <p:spPr>
          <a:xfrm>
            <a:off x="705328" y="5470525"/>
            <a:ext cx="78480" cy="78482"/>
          </a:xfrm>
          <a:prstGeom prst="ellipse">
            <a:avLst/>
          </a:prstGeom>
          <a:solidFill>
            <a:srgbClr val="1B5F39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DB91C14-0312-05B1-7DC8-603FC6C47BA6}"/>
              </a:ext>
            </a:extLst>
          </p:cNvPr>
          <p:cNvSpPr/>
          <p:nvPr/>
        </p:nvSpPr>
        <p:spPr>
          <a:xfrm>
            <a:off x="933030" y="5384105"/>
            <a:ext cx="492727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Difficulty searching and retrieving </a:t>
            </a:r>
            <a:r>
              <a:rPr lang="en-US" sz="1200" b="1" dirty="0">
                <a:latin typeface="Lora Bold" pitchFamily="34" charset="0"/>
                <a:ea typeface="Lora Bold" pitchFamily="34" charset="-122"/>
                <a:cs typeface="Lora Bold" pitchFamily="34" charset="-120"/>
              </a:rPr>
              <a:t>specific member information</a:t>
            </a:r>
            <a:r>
              <a:rPr lang="en-US" sz="1200" dirty="0">
                <a:latin typeface="Lora" pitchFamily="34" charset="0"/>
                <a:ea typeface="Lora" pitchFamily="34" charset="-122"/>
                <a:cs typeface="Lora" pitchFamily="34" charset="-120"/>
              </a:rPr>
              <a:t> quickly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F9CC7BC5-53B6-4AF0-41E9-81972DC4E80E}"/>
              </a:ext>
            </a:extLst>
          </p:cNvPr>
          <p:cNvSpPr/>
          <p:nvPr/>
        </p:nvSpPr>
        <p:spPr>
          <a:xfrm>
            <a:off x="6293883" y="1762224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33E32"/>
                </a:solidFill>
                <a:latin typeface="Maiandra GD" panose="020E0502030308020204" pitchFamily="34" charset="0"/>
                <a:ea typeface="Alice" pitchFamily="34" charset="-122"/>
                <a:cs typeface="Alice" pitchFamily="34" charset="-120"/>
              </a:rPr>
              <a:t>Proposed Solution</a:t>
            </a:r>
            <a:endParaRPr lang="en-US" dirty="0">
              <a:latin typeface="Maiandra GD" panose="020E0502030308020204" pitchFamily="34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A5AFAE52-049A-31EA-8C75-6DF113B3268B}"/>
              </a:ext>
            </a:extLst>
          </p:cNvPr>
          <p:cNvSpPr/>
          <p:nvPr/>
        </p:nvSpPr>
        <p:spPr>
          <a:xfrm>
            <a:off x="6293883" y="2157016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a </a:t>
            </a:r>
            <a:r>
              <a:rPr lang="en-US" sz="12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relational database system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centrally manage all gym operations in a structured, organized manner.</a:t>
            </a:r>
            <a:endParaRPr lang="en-US" sz="120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25023387-07CF-02E4-8442-A2F7956837EB}"/>
              </a:ext>
            </a:extLst>
          </p:cNvPr>
          <p:cNvSpPr/>
          <p:nvPr/>
        </p:nvSpPr>
        <p:spPr>
          <a:xfrm>
            <a:off x="6293883" y="2815233"/>
            <a:ext cx="2546683" cy="992188"/>
          </a:xfrm>
          <a:prstGeom prst="roundRect">
            <a:avLst>
              <a:gd name="adj" fmla="val 23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9CC6166B-E7FF-78E6-EC1C-8350769DC4E4}"/>
              </a:ext>
            </a:extLst>
          </p:cNvPr>
          <p:cNvSpPr/>
          <p:nvPr/>
        </p:nvSpPr>
        <p:spPr>
          <a:xfrm>
            <a:off x="6469992" y="2991346"/>
            <a:ext cx="21944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 Details</a:t>
            </a:r>
            <a:endParaRPr lang="en-US" sz="15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BE4E1FDD-BDEB-392E-B569-CD2657C2141A}"/>
              </a:ext>
            </a:extLst>
          </p:cNvPr>
          <p:cNvSpPr/>
          <p:nvPr/>
        </p:nvSpPr>
        <p:spPr>
          <a:xfrm>
            <a:off x="6469992" y="3386138"/>
            <a:ext cx="219446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Centralized profiles</a:t>
            </a:r>
            <a:endParaRPr lang="en-US" sz="120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E07463AE-345D-B1C7-3BF7-BB1FE4929DDD}"/>
              </a:ext>
            </a:extLst>
          </p:cNvPr>
          <p:cNvSpPr/>
          <p:nvPr/>
        </p:nvSpPr>
        <p:spPr>
          <a:xfrm>
            <a:off x="8989788" y="2815233"/>
            <a:ext cx="2546782" cy="992188"/>
          </a:xfrm>
          <a:prstGeom prst="roundRect">
            <a:avLst>
              <a:gd name="adj" fmla="val 23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FE469120-6C34-7FCE-8225-41A47DA66E81}"/>
              </a:ext>
            </a:extLst>
          </p:cNvPr>
          <p:cNvSpPr/>
          <p:nvPr/>
        </p:nvSpPr>
        <p:spPr>
          <a:xfrm>
            <a:off x="9165896" y="2991346"/>
            <a:ext cx="21945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Trainer Info</a:t>
            </a:r>
            <a:endParaRPr lang="en-US" sz="15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8AD5A06-69CC-B7DB-D71A-2818E6A571B9}"/>
              </a:ext>
            </a:extLst>
          </p:cNvPr>
          <p:cNvSpPr/>
          <p:nvPr/>
        </p:nvSpPr>
        <p:spPr>
          <a:xfrm>
            <a:off x="9165896" y="3386138"/>
            <a:ext cx="219456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Specializations tracked</a:t>
            </a:r>
            <a:endParaRPr lang="en-US" sz="1200" dirty="0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7E040C52-5E7B-66B5-4326-7D0813A12E4B}"/>
              </a:ext>
            </a:extLst>
          </p:cNvPr>
          <p:cNvSpPr/>
          <p:nvPr/>
        </p:nvSpPr>
        <p:spPr>
          <a:xfrm>
            <a:off x="6293883" y="3956645"/>
            <a:ext cx="2546683" cy="992188"/>
          </a:xfrm>
          <a:prstGeom prst="roundRect">
            <a:avLst>
              <a:gd name="adj" fmla="val 23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50A7B9BD-C5FC-C26A-27DE-FF304BBEB2CB}"/>
              </a:ext>
            </a:extLst>
          </p:cNvPr>
          <p:cNvSpPr/>
          <p:nvPr/>
        </p:nvSpPr>
        <p:spPr>
          <a:xfrm>
            <a:off x="6469992" y="4132759"/>
            <a:ext cx="21944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Memberships</a:t>
            </a:r>
            <a:endParaRPr lang="en-US" sz="15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B0255BBF-DDDE-76A3-3A45-E032168196C5}"/>
              </a:ext>
            </a:extLst>
          </p:cNvPr>
          <p:cNvSpPr/>
          <p:nvPr/>
        </p:nvSpPr>
        <p:spPr>
          <a:xfrm>
            <a:off x="6469992" y="4527550"/>
            <a:ext cx="219446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Plans and validity</a:t>
            </a:r>
            <a:endParaRPr lang="en-US" sz="120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71736CFD-B387-5A14-5A58-0760A902D7D4}"/>
              </a:ext>
            </a:extLst>
          </p:cNvPr>
          <p:cNvSpPr/>
          <p:nvPr/>
        </p:nvSpPr>
        <p:spPr>
          <a:xfrm>
            <a:off x="8989788" y="3956645"/>
            <a:ext cx="2546782" cy="992188"/>
          </a:xfrm>
          <a:prstGeom prst="roundRect">
            <a:avLst>
              <a:gd name="adj" fmla="val 23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0B159C78-FF77-FA3E-6646-FB7124A5055D}"/>
              </a:ext>
            </a:extLst>
          </p:cNvPr>
          <p:cNvSpPr/>
          <p:nvPr/>
        </p:nvSpPr>
        <p:spPr>
          <a:xfrm>
            <a:off x="9165896" y="4132759"/>
            <a:ext cx="21945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049" name="Text 30">
            <a:extLst>
              <a:ext uri="{FF2B5EF4-FFF2-40B4-BE49-F238E27FC236}">
                <a16:creationId xmlns:a16="http://schemas.microsoft.com/office/drawing/2014/main" id="{7C97D1C4-5DEA-0AA7-768C-AF4A58E42D15}"/>
              </a:ext>
            </a:extLst>
          </p:cNvPr>
          <p:cNvSpPr/>
          <p:nvPr/>
        </p:nvSpPr>
        <p:spPr>
          <a:xfrm>
            <a:off x="9165896" y="4527550"/>
            <a:ext cx="219456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Accurate records</a:t>
            </a:r>
            <a:endParaRPr lang="en-US" sz="1200" dirty="0"/>
          </a:p>
        </p:txBody>
      </p:sp>
      <p:sp>
        <p:nvSpPr>
          <p:cNvPr id="2052" name="Shape 31">
            <a:extLst>
              <a:ext uri="{FF2B5EF4-FFF2-40B4-BE49-F238E27FC236}">
                <a16:creationId xmlns:a16="http://schemas.microsoft.com/office/drawing/2014/main" id="{B1A30828-5E20-C9D1-291D-11429099F6FC}"/>
              </a:ext>
            </a:extLst>
          </p:cNvPr>
          <p:cNvSpPr/>
          <p:nvPr/>
        </p:nvSpPr>
        <p:spPr>
          <a:xfrm>
            <a:off x="6293883" y="5098058"/>
            <a:ext cx="5242687" cy="992188"/>
          </a:xfrm>
          <a:prstGeom prst="roundRect">
            <a:avLst>
              <a:gd name="adj" fmla="val 23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54" name="Text 32">
            <a:extLst>
              <a:ext uri="{FF2B5EF4-FFF2-40B4-BE49-F238E27FC236}">
                <a16:creationId xmlns:a16="http://schemas.microsoft.com/office/drawing/2014/main" id="{36EDF2FF-AC25-6BF4-FD97-0C7A76A72794}"/>
              </a:ext>
            </a:extLst>
          </p:cNvPr>
          <p:cNvSpPr/>
          <p:nvPr/>
        </p:nvSpPr>
        <p:spPr>
          <a:xfrm>
            <a:off x="6469992" y="5274171"/>
            <a:ext cx="489046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2056" name="Text 33">
            <a:extLst>
              <a:ext uri="{FF2B5EF4-FFF2-40B4-BE49-F238E27FC236}">
                <a16:creationId xmlns:a16="http://schemas.microsoft.com/office/drawing/2014/main" id="{753E6C24-E42F-20C6-60CC-552A22885E07}"/>
              </a:ext>
            </a:extLst>
          </p:cNvPr>
          <p:cNvSpPr/>
          <p:nvPr/>
        </p:nvSpPr>
        <p:spPr>
          <a:xfrm>
            <a:off x="6469992" y="5668963"/>
            <a:ext cx="489046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logs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1117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4E07-C075-3678-1A6C-2C59A06B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C6CCDE3-88AE-FAF1-93D3-BF515A046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4D95580-BA6F-84AE-FA7C-72240A98A6E4}"/>
              </a:ext>
            </a:extLst>
          </p:cNvPr>
          <p:cNvGrpSpPr/>
          <p:nvPr/>
        </p:nvGrpSpPr>
        <p:grpSpPr>
          <a:xfrm>
            <a:off x="3276599" y="199801"/>
            <a:ext cx="6055482" cy="1261107"/>
            <a:chOff x="13004829" y="1407596"/>
            <a:chExt cx="6141489" cy="19093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50441E8-3B7F-F54A-15F5-11E90FE7AB17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E69D542C-5C96-B837-74B9-98B3C756523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B5C15698-6221-0DBA-10F2-18A771A05C12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721865-7B6A-5DF2-DB83-0A052F00CFAA}"/>
                </a:ext>
              </a:extLst>
            </p:cNvPr>
            <p:cNvSpPr/>
            <p:nvPr/>
          </p:nvSpPr>
          <p:spPr>
            <a:xfrm>
              <a:off x="13185154" y="1773658"/>
              <a:ext cx="5635331" cy="698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  <a:sym typeface="Arial" panose="020B0604020202020204"/>
                </a:rPr>
                <a:t>WHY THIS PROJECT IS NEEDED</a:t>
              </a:r>
            </a:p>
          </p:txBody>
        </p:sp>
      </p:grpSp>
      <p:sp>
        <p:nvSpPr>
          <p:cNvPr id="3" name="Text 3">
            <a:extLst>
              <a:ext uri="{FF2B5EF4-FFF2-40B4-BE49-F238E27FC236}">
                <a16:creationId xmlns:a16="http://schemas.microsoft.com/office/drawing/2014/main" id="{114D0547-DC27-86C6-BBD4-10795DC52EEB}"/>
              </a:ext>
            </a:extLst>
          </p:cNvPr>
          <p:cNvSpPr/>
          <p:nvPr/>
        </p:nvSpPr>
        <p:spPr>
          <a:xfrm>
            <a:off x="599464" y="1167791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gym record management introduces significant operational risk. A centralized relational database eliminates these inefficiencies by organizing all gym operations — members, payments, attendance, trainers, and workouts — into a single, structured, and accurate system.</a:t>
            </a:r>
            <a:endParaRPr lang="en-US" sz="13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C64BD4A-2D85-BC4A-C371-0B3EFBE839FC}"/>
              </a:ext>
            </a:extLst>
          </p:cNvPr>
          <p:cNvSpPr/>
          <p:nvPr/>
        </p:nvSpPr>
        <p:spPr>
          <a:xfrm>
            <a:off x="572180" y="1940024"/>
            <a:ext cx="5461657" cy="4182666"/>
          </a:xfrm>
          <a:prstGeom prst="roundRect">
            <a:avLst>
              <a:gd name="adj" fmla="val 445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F2C0BD5-D061-58CC-6780-93EF95662BAC}"/>
              </a:ext>
            </a:extLst>
          </p:cNvPr>
          <p:cNvSpPr/>
          <p:nvPr/>
        </p:nvSpPr>
        <p:spPr>
          <a:xfrm>
            <a:off x="696201" y="2032992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Alice" pitchFamily="34" charset="0"/>
                <a:ea typeface="Alice" pitchFamily="34" charset="-122"/>
                <a:cs typeface="Alice" pitchFamily="34" charset="-120"/>
              </a:rPr>
              <a:t>The Problem: Manual Record Keeping</a:t>
            </a:r>
            <a:endParaRPr lang="en-US" sz="12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E05143E3-8DAD-935F-81C2-F69736E0C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33" y="2335064"/>
            <a:ext cx="186031" cy="186035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60E8613C-43C6-BA7E-2D4E-8D848FE1A0FB}"/>
              </a:ext>
            </a:extLst>
          </p:cNvPr>
          <p:cNvSpPr/>
          <p:nvPr/>
        </p:nvSpPr>
        <p:spPr>
          <a:xfrm>
            <a:off x="1099316" y="2331343"/>
            <a:ext cx="48105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Alice" pitchFamily="34" charset="0"/>
                <a:ea typeface="Alice" pitchFamily="34" charset="-122"/>
                <a:cs typeface="Alice" pitchFamily="34" charset="-120"/>
              </a:rPr>
              <a:t>Time-Consuming &amp; Error-Prone</a:t>
            </a:r>
            <a:endParaRPr lang="en-US" sz="12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A7E9838-552F-AD70-A3AE-4FC761E7957D}"/>
              </a:ext>
            </a:extLst>
          </p:cNvPr>
          <p:cNvSpPr/>
          <p:nvPr/>
        </p:nvSpPr>
        <p:spPr>
          <a:xfrm>
            <a:off x="1099316" y="2618085"/>
            <a:ext cx="48105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latin typeface="Lora" pitchFamily="34" charset="0"/>
                <a:ea typeface="Lora" pitchFamily="34" charset="-122"/>
                <a:cs typeface="Lora" pitchFamily="34" charset="-120"/>
              </a:rPr>
              <a:t>Manual processes introduce human error and consume staff time that could be allocated to member-facing services.</a:t>
            </a:r>
            <a:endParaRPr lang="en-US" sz="950" dirty="0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198FC64F-492C-EBA7-294D-9D861F733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33" y="3155107"/>
            <a:ext cx="186031" cy="186035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8BA0EAF8-5B5A-92D6-0B99-CBBCB166A349}"/>
              </a:ext>
            </a:extLst>
          </p:cNvPr>
          <p:cNvSpPr/>
          <p:nvPr/>
        </p:nvSpPr>
        <p:spPr>
          <a:xfrm>
            <a:off x="1099316" y="3151386"/>
            <a:ext cx="48105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Alice" pitchFamily="34" charset="0"/>
                <a:ea typeface="Alice" pitchFamily="34" charset="-122"/>
                <a:cs typeface="Alice" pitchFamily="34" charset="-120"/>
              </a:rPr>
              <a:t>Disorganized Payment Tracking</a:t>
            </a:r>
            <a:endParaRPr lang="en-US" sz="12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9A0417EB-4F9A-2CC4-C96F-59FD5DE066AF}"/>
              </a:ext>
            </a:extLst>
          </p:cNvPr>
          <p:cNvSpPr/>
          <p:nvPr/>
        </p:nvSpPr>
        <p:spPr>
          <a:xfrm>
            <a:off x="1099316" y="3438128"/>
            <a:ext cx="48105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latin typeface="Lora" pitchFamily="34" charset="0"/>
                <a:ea typeface="Lora" pitchFamily="34" charset="-122"/>
                <a:cs typeface="Lora" pitchFamily="34" charset="-120"/>
              </a:rPr>
              <a:t>Without a structured system, payment records become inconsistent and difficult to reconcile across periods.</a:t>
            </a:r>
            <a:endParaRPr lang="en-US" sz="95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ACBC72B6-48C0-4736-06CE-EF75356AE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33" y="3975150"/>
            <a:ext cx="186031" cy="186035"/>
          </a:xfrm>
          <a:prstGeom prst="rect">
            <a:avLst/>
          </a:prstGeom>
        </p:spPr>
      </p:pic>
      <p:sp>
        <p:nvSpPr>
          <p:cNvPr id="46" name="Text 10">
            <a:extLst>
              <a:ext uri="{FF2B5EF4-FFF2-40B4-BE49-F238E27FC236}">
                <a16:creationId xmlns:a16="http://schemas.microsoft.com/office/drawing/2014/main" id="{6F5BF6CE-29C3-0D06-CE5E-2D385BA5DDF7}"/>
              </a:ext>
            </a:extLst>
          </p:cNvPr>
          <p:cNvSpPr/>
          <p:nvPr/>
        </p:nvSpPr>
        <p:spPr>
          <a:xfrm>
            <a:off x="1099316" y="3971429"/>
            <a:ext cx="48105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Alice" pitchFamily="34" charset="0"/>
                <a:ea typeface="Alice" pitchFamily="34" charset="-122"/>
                <a:cs typeface="Alice" pitchFamily="34" charset="-120"/>
              </a:rPr>
              <a:t>Scattered Attendance Records</a:t>
            </a:r>
            <a:endParaRPr lang="en-US" sz="12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CFF49E0C-7791-C289-69A3-8B0FAA620F7B}"/>
              </a:ext>
            </a:extLst>
          </p:cNvPr>
          <p:cNvSpPr/>
          <p:nvPr/>
        </p:nvSpPr>
        <p:spPr>
          <a:xfrm>
            <a:off x="1099316" y="4258171"/>
            <a:ext cx="48105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latin typeface="Lora" pitchFamily="34" charset="0"/>
                <a:ea typeface="Lora" pitchFamily="34" charset="-122"/>
                <a:cs typeface="Lora" pitchFamily="34" charset="-120"/>
              </a:rPr>
              <a:t>Attendance logs maintained separately are slow to retrieve and prone to gaps or duplication.</a:t>
            </a:r>
            <a:endParaRPr lang="en-US" sz="950" dirty="0"/>
          </a:p>
        </p:txBody>
      </p:sp>
      <p:pic>
        <p:nvPicPr>
          <p:cNvPr id="54" name="Image 3" descr="preencoded.png">
            <a:extLst>
              <a:ext uri="{FF2B5EF4-FFF2-40B4-BE49-F238E27FC236}">
                <a16:creationId xmlns:a16="http://schemas.microsoft.com/office/drawing/2014/main" id="{7BB4347E-337F-E34D-D10E-7EFBFD525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33" y="4795193"/>
            <a:ext cx="186031" cy="186035"/>
          </a:xfrm>
          <a:prstGeom prst="rect">
            <a:avLst/>
          </a:prstGeom>
        </p:spPr>
      </p:pic>
      <p:sp>
        <p:nvSpPr>
          <p:cNvPr id="58" name="Text 12">
            <a:extLst>
              <a:ext uri="{FF2B5EF4-FFF2-40B4-BE49-F238E27FC236}">
                <a16:creationId xmlns:a16="http://schemas.microsoft.com/office/drawing/2014/main" id="{00D899BC-BFED-2F4D-2F29-3A158264B5FA}"/>
              </a:ext>
            </a:extLst>
          </p:cNvPr>
          <p:cNvSpPr/>
          <p:nvPr/>
        </p:nvSpPr>
        <p:spPr>
          <a:xfrm>
            <a:off x="1099316" y="4791472"/>
            <a:ext cx="48105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Alice" pitchFamily="34" charset="0"/>
                <a:ea typeface="Alice" pitchFamily="34" charset="-122"/>
                <a:cs typeface="Alice" pitchFamily="34" charset="-120"/>
              </a:rPr>
              <a:t>Duplicate &amp; Inconsistent Data</a:t>
            </a:r>
            <a:endParaRPr lang="en-US" sz="120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7A070E76-0BFB-D5FE-84DD-DDFDCC7F4FE7}"/>
              </a:ext>
            </a:extLst>
          </p:cNvPr>
          <p:cNvSpPr/>
          <p:nvPr/>
        </p:nvSpPr>
        <p:spPr>
          <a:xfrm>
            <a:off x="1099316" y="5078214"/>
            <a:ext cx="48105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latin typeface="Lora" pitchFamily="34" charset="0"/>
                <a:ea typeface="Lora" pitchFamily="34" charset="-122"/>
                <a:cs typeface="Lora" pitchFamily="34" charset="-120"/>
              </a:rPr>
              <a:t>Maintaining separate registers for members, memberships, and payments leads to conflicting records and data integrity failures.</a:t>
            </a:r>
            <a:endParaRPr lang="en-US" sz="950" dirty="0"/>
          </a:p>
        </p:txBody>
      </p:sp>
      <p:sp>
        <p:nvSpPr>
          <p:cNvPr id="2051" name="Text 14">
            <a:extLst>
              <a:ext uri="{FF2B5EF4-FFF2-40B4-BE49-F238E27FC236}">
                <a16:creationId xmlns:a16="http://schemas.microsoft.com/office/drawing/2014/main" id="{5F362E2E-2D9F-5438-B0FB-C5817EBC30E7}"/>
              </a:ext>
            </a:extLst>
          </p:cNvPr>
          <p:cNvSpPr/>
          <p:nvPr/>
        </p:nvSpPr>
        <p:spPr>
          <a:xfrm>
            <a:off x="6253502" y="2032992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Solution: Centralized Relational Database</a:t>
            </a:r>
            <a:endParaRPr lang="en-US" sz="1200" dirty="0"/>
          </a:p>
        </p:txBody>
      </p:sp>
      <p:sp>
        <p:nvSpPr>
          <p:cNvPr id="2055" name="Shape 15">
            <a:extLst>
              <a:ext uri="{FF2B5EF4-FFF2-40B4-BE49-F238E27FC236}">
                <a16:creationId xmlns:a16="http://schemas.microsoft.com/office/drawing/2014/main" id="{56D8BDEA-7BB7-2334-5CF0-43BC4AFFBAE8}"/>
              </a:ext>
            </a:extLst>
          </p:cNvPr>
          <p:cNvSpPr/>
          <p:nvPr/>
        </p:nvSpPr>
        <p:spPr>
          <a:xfrm>
            <a:off x="6253502" y="2331343"/>
            <a:ext cx="5283068" cy="882055"/>
          </a:xfrm>
          <a:prstGeom prst="roundRect">
            <a:avLst>
              <a:gd name="adj" fmla="val 2109"/>
            </a:avLst>
          </a:prstGeom>
          <a:solidFill>
            <a:srgbClr val="F0EDE6"/>
          </a:solidFill>
          <a:ln/>
        </p:spPr>
      </p:sp>
      <p:sp>
        <p:nvSpPr>
          <p:cNvPr id="2058" name="Text 16">
            <a:extLst>
              <a:ext uri="{FF2B5EF4-FFF2-40B4-BE49-F238E27FC236}">
                <a16:creationId xmlns:a16="http://schemas.microsoft.com/office/drawing/2014/main" id="{B9B9F934-4AA6-C964-0FE9-9EC7AFD56395}"/>
              </a:ext>
            </a:extLst>
          </p:cNvPr>
          <p:cNvSpPr/>
          <p:nvPr/>
        </p:nvSpPr>
        <p:spPr>
          <a:xfrm>
            <a:off x="6377522" y="2455366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Faster Access</a:t>
            </a:r>
            <a:endParaRPr lang="en-US" sz="1200" dirty="0"/>
          </a:p>
        </p:txBody>
      </p:sp>
      <p:sp>
        <p:nvSpPr>
          <p:cNvPr id="2060" name="Text 17">
            <a:extLst>
              <a:ext uri="{FF2B5EF4-FFF2-40B4-BE49-F238E27FC236}">
                <a16:creationId xmlns:a16="http://schemas.microsoft.com/office/drawing/2014/main" id="{479EF205-8DE2-CA62-7734-9A2630804376}"/>
              </a:ext>
            </a:extLst>
          </p:cNvPr>
          <p:cNvSpPr/>
          <p:nvPr/>
        </p:nvSpPr>
        <p:spPr>
          <a:xfrm>
            <a:off x="6377522" y="2742109"/>
            <a:ext cx="503502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Instantly retrieve member, membership, payment, attendance, trainer, and workout information without manual searching.</a:t>
            </a:r>
            <a:endParaRPr lang="en-US" sz="950" dirty="0"/>
          </a:p>
        </p:txBody>
      </p:sp>
      <p:sp>
        <p:nvSpPr>
          <p:cNvPr id="2062" name="Shape 18">
            <a:extLst>
              <a:ext uri="{FF2B5EF4-FFF2-40B4-BE49-F238E27FC236}">
                <a16:creationId xmlns:a16="http://schemas.microsoft.com/office/drawing/2014/main" id="{1917DF08-EA35-13B7-DE80-E1FEA9238761}"/>
              </a:ext>
            </a:extLst>
          </p:cNvPr>
          <p:cNvSpPr/>
          <p:nvPr/>
        </p:nvSpPr>
        <p:spPr>
          <a:xfrm>
            <a:off x="6253502" y="3306366"/>
            <a:ext cx="5283068" cy="882055"/>
          </a:xfrm>
          <a:prstGeom prst="roundRect">
            <a:avLst>
              <a:gd name="adj" fmla="val 2109"/>
            </a:avLst>
          </a:prstGeom>
          <a:solidFill>
            <a:srgbClr val="F0EDE6"/>
          </a:solidFill>
          <a:ln/>
        </p:spPr>
      </p:sp>
      <p:sp>
        <p:nvSpPr>
          <p:cNvPr id="2064" name="Text 19">
            <a:extLst>
              <a:ext uri="{FF2B5EF4-FFF2-40B4-BE49-F238E27FC236}">
                <a16:creationId xmlns:a16="http://schemas.microsoft.com/office/drawing/2014/main" id="{334A9A5F-C3D2-5031-D1B1-F015C7DA6B1B}"/>
              </a:ext>
            </a:extLst>
          </p:cNvPr>
          <p:cNvSpPr/>
          <p:nvPr/>
        </p:nvSpPr>
        <p:spPr>
          <a:xfrm>
            <a:off x="6377522" y="3430389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2066" name="Text 20">
            <a:extLst>
              <a:ext uri="{FF2B5EF4-FFF2-40B4-BE49-F238E27FC236}">
                <a16:creationId xmlns:a16="http://schemas.microsoft.com/office/drawing/2014/main" id="{3EB39853-7341-6B25-5B33-0A00A66E8201}"/>
              </a:ext>
            </a:extLst>
          </p:cNvPr>
          <p:cNvSpPr/>
          <p:nvPr/>
        </p:nvSpPr>
        <p:spPr>
          <a:xfrm>
            <a:off x="6377522" y="3717131"/>
            <a:ext cx="503502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Relational structure maintains integrity across all linked records, eliminating contradictions between tables.</a:t>
            </a:r>
            <a:endParaRPr lang="en-US" sz="950" dirty="0"/>
          </a:p>
        </p:txBody>
      </p:sp>
      <p:sp>
        <p:nvSpPr>
          <p:cNvPr id="2068" name="Shape 21">
            <a:extLst>
              <a:ext uri="{FF2B5EF4-FFF2-40B4-BE49-F238E27FC236}">
                <a16:creationId xmlns:a16="http://schemas.microsoft.com/office/drawing/2014/main" id="{C454FB8A-492B-C538-812C-7CDDB29F860A}"/>
              </a:ext>
            </a:extLst>
          </p:cNvPr>
          <p:cNvSpPr/>
          <p:nvPr/>
        </p:nvSpPr>
        <p:spPr>
          <a:xfrm>
            <a:off x="6253502" y="4281388"/>
            <a:ext cx="5283068" cy="882055"/>
          </a:xfrm>
          <a:prstGeom prst="roundRect">
            <a:avLst>
              <a:gd name="adj" fmla="val 2109"/>
            </a:avLst>
          </a:prstGeom>
          <a:solidFill>
            <a:srgbClr val="F0EDE6"/>
          </a:solidFill>
          <a:ln/>
        </p:spPr>
      </p:sp>
      <p:sp>
        <p:nvSpPr>
          <p:cNvPr id="2070" name="Text 22">
            <a:extLst>
              <a:ext uri="{FF2B5EF4-FFF2-40B4-BE49-F238E27FC236}">
                <a16:creationId xmlns:a16="http://schemas.microsoft.com/office/drawing/2014/main" id="{0A502B93-3D81-CB48-BD4A-2225C44BBA33}"/>
              </a:ext>
            </a:extLst>
          </p:cNvPr>
          <p:cNvSpPr/>
          <p:nvPr/>
        </p:nvSpPr>
        <p:spPr>
          <a:xfrm>
            <a:off x="6377522" y="4405412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Reduced Redundancy</a:t>
            </a:r>
            <a:endParaRPr lang="en-US" sz="1200" dirty="0"/>
          </a:p>
        </p:txBody>
      </p:sp>
      <p:sp>
        <p:nvSpPr>
          <p:cNvPr id="2072" name="Text 23">
            <a:extLst>
              <a:ext uri="{FF2B5EF4-FFF2-40B4-BE49-F238E27FC236}">
                <a16:creationId xmlns:a16="http://schemas.microsoft.com/office/drawing/2014/main" id="{3C9852B7-20FF-877F-2E88-C2A13A090367}"/>
              </a:ext>
            </a:extLst>
          </p:cNvPr>
          <p:cNvSpPr/>
          <p:nvPr/>
        </p:nvSpPr>
        <p:spPr>
          <a:xfrm>
            <a:off x="6377522" y="4692154"/>
            <a:ext cx="503502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single source of truth for each entity prevents duplicate entries and simplifies record maintenance.</a:t>
            </a:r>
            <a:endParaRPr lang="en-US" sz="950" dirty="0"/>
          </a:p>
        </p:txBody>
      </p:sp>
      <p:sp>
        <p:nvSpPr>
          <p:cNvPr id="2074" name="Shape 24">
            <a:extLst>
              <a:ext uri="{FF2B5EF4-FFF2-40B4-BE49-F238E27FC236}">
                <a16:creationId xmlns:a16="http://schemas.microsoft.com/office/drawing/2014/main" id="{F2E19CD2-EE5C-59EB-24D8-CE4397BDD9A5}"/>
              </a:ext>
            </a:extLst>
          </p:cNvPr>
          <p:cNvSpPr/>
          <p:nvPr/>
        </p:nvSpPr>
        <p:spPr>
          <a:xfrm>
            <a:off x="6253502" y="5268020"/>
            <a:ext cx="5283068" cy="750094"/>
          </a:xfrm>
          <a:prstGeom prst="roundRect">
            <a:avLst>
              <a:gd name="adj" fmla="val 2481"/>
            </a:avLst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076" name="Image 4" descr="preencoded.png">
            <a:extLst>
              <a:ext uri="{FF2B5EF4-FFF2-40B4-BE49-F238E27FC236}">
                <a16:creationId xmlns:a16="http://schemas.microsoft.com/office/drawing/2014/main" id="{2A1E092C-20C1-EEDC-0C7E-5E80850D3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522" y="5416748"/>
            <a:ext cx="154976" cy="124023"/>
          </a:xfrm>
          <a:prstGeom prst="rect">
            <a:avLst/>
          </a:prstGeom>
        </p:spPr>
      </p:pic>
      <p:sp>
        <p:nvSpPr>
          <p:cNvPr id="2078" name="Text 25">
            <a:extLst>
              <a:ext uri="{FF2B5EF4-FFF2-40B4-BE49-F238E27FC236}">
                <a16:creationId xmlns:a16="http://schemas.microsoft.com/office/drawing/2014/main" id="{E8558262-B1B1-DF57-26FC-5BDB3ED510C4}"/>
              </a:ext>
            </a:extLst>
          </p:cNvPr>
          <p:cNvSpPr/>
          <p:nvPr/>
        </p:nvSpPr>
        <p:spPr>
          <a:xfrm>
            <a:off x="6656519" y="5382617"/>
            <a:ext cx="4756031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Therefore,</a:t>
            </a: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Gym Membership Management System replaces scattered and manual record keeping with a centralized, structured, accurate, and efficient database system.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0953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E5D-80D7-7E51-544E-45D0C5F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C3832E2-58BD-3420-3DB8-4D92A72E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8D2F476-842F-6F48-36FC-0C6D8B2E55D0}"/>
              </a:ext>
            </a:extLst>
          </p:cNvPr>
          <p:cNvGrpSpPr/>
          <p:nvPr/>
        </p:nvGrpSpPr>
        <p:grpSpPr>
          <a:xfrm>
            <a:off x="2928035" y="136524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75F019-FFE0-2FA4-7C9C-6AD0E352A43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B8A5548-836F-FE91-81C9-614A50D0FEC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509FE48-EB07-7A73-784D-E66E74453F4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5757B-8341-7E10-71A8-9D59EDC76EA2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Book Antiqua"/>
                </a:rPr>
                <a:t>OBJECTIVES</a:t>
              </a:r>
              <a:endParaRPr sz="2400" b="1" dirty="0">
                <a:solidFill>
                  <a:schemeClr val="bg1"/>
                </a:solidFill>
                <a:latin typeface="Book Antiqua"/>
              </a:endParaRPr>
            </a:p>
          </p:txBody>
        </p:sp>
      </p:grpSp>
      <p:sp>
        <p:nvSpPr>
          <p:cNvPr id="3" name="Text 3">
            <a:extLst>
              <a:ext uri="{FF2B5EF4-FFF2-40B4-BE49-F238E27FC236}">
                <a16:creationId xmlns:a16="http://schemas.microsoft.com/office/drawing/2014/main" id="{C698EF6F-1B82-A848-542F-ADB1AF3B4A52}"/>
              </a:ext>
            </a:extLst>
          </p:cNvPr>
          <p:cNvSpPr/>
          <p:nvPr/>
        </p:nvSpPr>
        <p:spPr>
          <a:xfrm>
            <a:off x="661475" y="138430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7042B19-BA17-B63E-031C-8FCDA77D65F0}"/>
              </a:ext>
            </a:extLst>
          </p:cNvPr>
          <p:cNvSpPr/>
          <p:nvPr/>
        </p:nvSpPr>
        <p:spPr>
          <a:xfrm>
            <a:off x="661475" y="1710035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A3FE5BD-691D-0480-7174-78BBB9E4BAEC}"/>
              </a:ext>
            </a:extLst>
          </p:cNvPr>
          <p:cNvSpPr/>
          <p:nvPr/>
        </p:nvSpPr>
        <p:spPr>
          <a:xfrm>
            <a:off x="711083" y="173484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5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48594D3-1DAC-324A-9B81-6E16C46350B7}"/>
              </a:ext>
            </a:extLst>
          </p:cNvPr>
          <p:cNvSpPr/>
          <p:nvPr/>
        </p:nvSpPr>
        <p:spPr>
          <a:xfrm>
            <a:off x="1064888" y="1755477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Manage member and trainer details efficiently</a:t>
            </a:r>
            <a:endParaRPr lang="en-US" sz="13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60DA533-6CB4-C998-8273-D6D2341D5A61}"/>
              </a:ext>
            </a:extLst>
          </p:cNvPr>
          <p:cNvSpPr/>
          <p:nvPr/>
        </p:nvSpPr>
        <p:spPr>
          <a:xfrm>
            <a:off x="1064888" y="2067917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 complete profiles including contact, specialization, and join history.</a:t>
            </a:r>
            <a:endParaRPr lang="en-US" sz="1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C71E138B-474E-1003-A4E7-EE0FBFAB9FCF}"/>
              </a:ext>
            </a:extLst>
          </p:cNvPr>
          <p:cNvSpPr/>
          <p:nvPr/>
        </p:nvSpPr>
        <p:spPr>
          <a:xfrm>
            <a:off x="661475" y="2470051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D7DE613-5E80-E42E-CAAB-7C9F2F8AE022}"/>
              </a:ext>
            </a:extLst>
          </p:cNvPr>
          <p:cNvSpPr/>
          <p:nvPr/>
        </p:nvSpPr>
        <p:spPr>
          <a:xfrm>
            <a:off x="711083" y="249485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5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D42FF57-C988-6F6F-ECB8-0C65B3326D7E}"/>
              </a:ext>
            </a:extLst>
          </p:cNvPr>
          <p:cNvSpPr/>
          <p:nvPr/>
        </p:nvSpPr>
        <p:spPr>
          <a:xfrm>
            <a:off x="1064888" y="2515493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 payments, attendance, and workouts</a:t>
            </a:r>
            <a:endParaRPr lang="en-US" sz="13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49FE02F-BEC3-FB07-72B1-24EF5B8A649B}"/>
              </a:ext>
            </a:extLst>
          </p:cNvPr>
          <p:cNvSpPr/>
          <p:nvPr/>
        </p:nvSpPr>
        <p:spPr>
          <a:xfrm>
            <a:off x="1064888" y="2827933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Accurate, timestamped logs for all financial transactions and daily check-ins.</a:t>
            </a:r>
            <a:endParaRPr lang="en-US" sz="10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F9C6E3FA-25EA-253B-A475-F0334623111D}"/>
              </a:ext>
            </a:extLst>
          </p:cNvPr>
          <p:cNvSpPr/>
          <p:nvPr/>
        </p:nvSpPr>
        <p:spPr>
          <a:xfrm>
            <a:off x="661475" y="3230066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2CE7DD1-013C-F3EB-0607-29C5FCA5FC89}"/>
              </a:ext>
            </a:extLst>
          </p:cNvPr>
          <p:cNvSpPr/>
          <p:nvPr/>
        </p:nvSpPr>
        <p:spPr>
          <a:xfrm>
            <a:off x="711083" y="32548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5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43223BA-0599-88A3-E403-948C4387C05F}"/>
              </a:ext>
            </a:extLst>
          </p:cNvPr>
          <p:cNvSpPr/>
          <p:nvPr/>
        </p:nvSpPr>
        <p:spPr>
          <a:xfrm>
            <a:off x="1064888" y="3275509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Reduce redundancy and maintain integrity</a:t>
            </a:r>
            <a:endParaRPr lang="en-US" sz="13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4EB57EA9-2B7D-DC77-B18B-CCDD99D882F7}"/>
              </a:ext>
            </a:extLst>
          </p:cNvPr>
          <p:cNvSpPr/>
          <p:nvPr/>
        </p:nvSpPr>
        <p:spPr>
          <a:xfrm>
            <a:off x="1064888" y="3587948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 data to eliminate duplication and enforce consistency at every level.</a:t>
            </a:r>
            <a:endParaRPr lang="en-US" sz="10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A7808324-2B53-F1C6-3FC6-45786910BC4A}"/>
              </a:ext>
            </a:extLst>
          </p:cNvPr>
          <p:cNvSpPr/>
          <p:nvPr/>
        </p:nvSpPr>
        <p:spPr>
          <a:xfrm>
            <a:off x="661475" y="3990082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F5B088A8-8084-88BC-836D-15968046447E}"/>
              </a:ext>
            </a:extLst>
          </p:cNvPr>
          <p:cNvSpPr/>
          <p:nvPr/>
        </p:nvSpPr>
        <p:spPr>
          <a:xfrm>
            <a:off x="711083" y="4014887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5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32A88B4B-6377-7BD4-A29B-E12995B211E2}"/>
              </a:ext>
            </a:extLst>
          </p:cNvPr>
          <p:cNvSpPr/>
          <p:nvPr/>
        </p:nvSpPr>
        <p:spPr>
          <a:xfrm>
            <a:off x="1064888" y="4035524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Provide faster and accurate data retrieval</a:t>
            </a:r>
            <a:endParaRPr lang="en-US" sz="13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5FCB1456-FFAD-CFB0-3C8F-BE8929894069}"/>
              </a:ext>
            </a:extLst>
          </p:cNvPr>
          <p:cNvSpPr/>
          <p:nvPr/>
        </p:nvSpPr>
        <p:spPr>
          <a:xfrm>
            <a:off x="1064888" y="4347964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instant search, filtering, and reporting across all six modules.</a:t>
            </a:r>
            <a:endParaRPr lang="en-US" sz="10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47C8C4F9-2D41-21EA-A0A1-4FA1AF9AAFEC}"/>
              </a:ext>
            </a:extLst>
          </p:cNvPr>
          <p:cNvSpPr/>
          <p:nvPr/>
        </p:nvSpPr>
        <p:spPr>
          <a:xfrm>
            <a:off x="6263523" y="138430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6E6899B3-680B-3B50-8E9F-5A20F00BDFA0}"/>
              </a:ext>
            </a:extLst>
          </p:cNvPr>
          <p:cNvSpPr/>
          <p:nvPr/>
        </p:nvSpPr>
        <p:spPr>
          <a:xfrm>
            <a:off x="6263523" y="1710035"/>
            <a:ext cx="2583592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7281C276-A011-2760-FF51-C4179CE288E1}"/>
              </a:ext>
            </a:extLst>
          </p:cNvPr>
          <p:cNvSpPr/>
          <p:nvPr/>
        </p:nvSpPr>
        <p:spPr>
          <a:xfrm>
            <a:off x="6395778" y="1842294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Manage Members</a:t>
            </a:r>
            <a:endParaRPr lang="en-US" sz="130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4FAC8BDA-25B0-6B43-A677-54DA116AC5B7}"/>
              </a:ext>
            </a:extLst>
          </p:cNvPr>
          <p:cNvSpPr/>
          <p:nvPr/>
        </p:nvSpPr>
        <p:spPr>
          <a:xfrm>
            <a:off x="8952879" y="1710035"/>
            <a:ext cx="2583691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AF5D6DD4-370A-C2CB-71C3-72FA26A1F50E}"/>
              </a:ext>
            </a:extLst>
          </p:cNvPr>
          <p:cNvSpPr/>
          <p:nvPr/>
        </p:nvSpPr>
        <p:spPr>
          <a:xfrm>
            <a:off x="9085134" y="1842294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Manage Trainers</a:t>
            </a:r>
            <a:endParaRPr lang="en-US" sz="13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3792C496-2A3A-247D-2563-296F0F69043A}"/>
              </a:ext>
            </a:extLst>
          </p:cNvPr>
          <p:cNvSpPr/>
          <p:nvPr/>
        </p:nvSpPr>
        <p:spPr>
          <a:xfrm>
            <a:off x="6263523" y="2286992"/>
            <a:ext cx="2583592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E77EC35-BEE8-A986-574D-D2E92532B1DF}"/>
              </a:ext>
            </a:extLst>
          </p:cNvPr>
          <p:cNvSpPr/>
          <p:nvPr/>
        </p:nvSpPr>
        <p:spPr>
          <a:xfrm>
            <a:off x="6395778" y="2419251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Manage Memberships</a:t>
            </a:r>
            <a:endParaRPr lang="en-US" sz="130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29B7FF55-DDFC-D1BE-CA93-2D779F81392A}"/>
              </a:ext>
            </a:extLst>
          </p:cNvPr>
          <p:cNvSpPr/>
          <p:nvPr/>
        </p:nvSpPr>
        <p:spPr>
          <a:xfrm>
            <a:off x="8952879" y="2286992"/>
            <a:ext cx="2583691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CEE62EF2-904E-7F4A-6ACC-CA48608847DD}"/>
              </a:ext>
            </a:extLst>
          </p:cNvPr>
          <p:cNvSpPr/>
          <p:nvPr/>
        </p:nvSpPr>
        <p:spPr>
          <a:xfrm>
            <a:off x="9085134" y="2419251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 Payments</a:t>
            </a:r>
            <a:endParaRPr lang="en-US" sz="130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CB8B4EE3-D211-4417-3482-7AA1458A9E18}"/>
              </a:ext>
            </a:extLst>
          </p:cNvPr>
          <p:cNvSpPr/>
          <p:nvPr/>
        </p:nvSpPr>
        <p:spPr>
          <a:xfrm>
            <a:off x="6263523" y="2863949"/>
            <a:ext cx="2583592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97E2C4AB-A652-05A8-9EE8-D49B16D3FD02}"/>
              </a:ext>
            </a:extLst>
          </p:cNvPr>
          <p:cNvSpPr/>
          <p:nvPr/>
        </p:nvSpPr>
        <p:spPr>
          <a:xfrm>
            <a:off x="6395778" y="2996208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 Attendance</a:t>
            </a:r>
            <a:endParaRPr lang="en-US" sz="1300" dirty="0"/>
          </a:p>
        </p:txBody>
      </p:sp>
      <p:sp>
        <p:nvSpPr>
          <p:cNvPr id="2049" name="Shape 31">
            <a:extLst>
              <a:ext uri="{FF2B5EF4-FFF2-40B4-BE49-F238E27FC236}">
                <a16:creationId xmlns:a16="http://schemas.microsoft.com/office/drawing/2014/main" id="{E6EA50F9-42BE-D0CD-A4A1-A1CA19AF2416}"/>
              </a:ext>
            </a:extLst>
          </p:cNvPr>
          <p:cNvSpPr/>
          <p:nvPr/>
        </p:nvSpPr>
        <p:spPr>
          <a:xfrm>
            <a:off x="8952879" y="2863949"/>
            <a:ext cx="2583691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2052" name="Text 32">
            <a:extLst>
              <a:ext uri="{FF2B5EF4-FFF2-40B4-BE49-F238E27FC236}">
                <a16:creationId xmlns:a16="http://schemas.microsoft.com/office/drawing/2014/main" id="{5AA8632F-A512-E78F-74E6-D7CD1A34653A}"/>
              </a:ext>
            </a:extLst>
          </p:cNvPr>
          <p:cNvSpPr/>
          <p:nvPr/>
        </p:nvSpPr>
        <p:spPr>
          <a:xfrm>
            <a:off x="9085134" y="2996208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Manage Workouts</a:t>
            </a:r>
            <a:endParaRPr lang="en-US" sz="1300" dirty="0"/>
          </a:p>
        </p:txBody>
      </p:sp>
      <p:sp>
        <p:nvSpPr>
          <p:cNvPr id="2054" name="Text 33">
            <a:extLst>
              <a:ext uri="{FF2B5EF4-FFF2-40B4-BE49-F238E27FC236}">
                <a16:creationId xmlns:a16="http://schemas.microsoft.com/office/drawing/2014/main" id="{AFE4A63C-628B-511E-7C8F-404B4534C68D}"/>
              </a:ext>
            </a:extLst>
          </p:cNvPr>
          <p:cNvSpPr/>
          <p:nvPr/>
        </p:nvSpPr>
        <p:spPr>
          <a:xfrm>
            <a:off x="6263523" y="345420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056" name="Shape 34">
            <a:extLst>
              <a:ext uri="{FF2B5EF4-FFF2-40B4-BE49-F238E27FC236}">
                <a16:creationId xmlns:a16="http://schemas.microsoft.com/office/drawing/2014/main" id="{DA822D3C-653B-F54E-1021-9A47D0258B43}"/>
              </a:ext>
            </a:extLst>
          </p:cNvPr>
          <p:cNvSpPr/>
          <p:nvPr/>
        </p:nvSpPr>
        <p:spPr>
          <a:xfrm>
            <a:off x="6263523" y="3779937"/>
            <a:ext cx="2583592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58" name="Text 35">
            <a:extLst>
              <a:ext uri="{FF2B5EF4-FFF2-40B4-BE49-F238E27FC236}">
                <a16:creationId xmlns:a16="http://schemas.microsoft.com/office/drawing/2014/main" id="{79B7FEC0-0DA5-256B-A481-079853838AC8}"/>
              </a:ext>
            </a:extLst>
          </p:cNvPr>
          <p:cNvSpPr/>
          <p:nvPr/>
        </p:nvSpPr>
        <p:spPr>
          <a:xfrm>
            <a:off x="6414828" y="3931245"/>
            <a:ext cx="22809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060" name="Shape 36">
            <a:extLst>
              <a:ext uri="{FF2B5EF4-FFF2-40B4-BE49-F238E27FC236}">
                <a16:creationId xmlns:a16="http://schemas.microsoft.com/office/drawing/2014/main" id="{212CAC7A-09B2-BE3A-A3D2-B869928B2B41}"/>
              </a:ext>
            </a:extLst>
          </p:cNvPr>
          <p:cNvSpPr/>
          <p:nvPr/>
        </p:nvSpPr>
        <p:spPr>
          <a:xfrm>
            <a:off x="8952879" y="3779937"/>
            <a:ext cx="2583691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62" name="Text 37">
            <a:extLst>
              <a:ext uri="{FF2B5EF4-FFF2-40B4-BE49-F238E27FC236}">
                <a16:creationId xmlns:a16="http://schemas.microsoft.com/office/drawing/2014/main" id="{8AE00233-5AF3-45AD-573D-4BBB5DB7CF29}"/>
              </a:ext>
            </a:extLst>
          </p:cNvPr>
          <p:cNvSpPr/>
          <p:nvPr/>
        </p:nvSpPr>
        <p:spPr>
          <a:xfrm>
            <a:off x="9104184" y="3931245"/>
            <a:ext cx="2281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064" name="Shape 38">
            <a:extLst>
              <a:ext uri="{FF2B5EF4-FFF2-40B4-BE49-F238E27FC236}">
                <a16:creationId xmlns:a16="http://schemas.microsoft.com/office/drawing/2014/main" id="{CB1115B3-5F84-6AB5-E32E-F82FB272E966}"/>
              </a:ext>
            </a:extLst>
          </p:cNvPr>
          <p:cNvSpPr/>
          <p:nvPr/>
        </p:nvSpPr>
        <p:spPr>
          <a:xfrm>
            <a:off x="6263523" y="4394994"/>
            <a:ext cx="2583592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66" name="Text 39">
            <a:extLst>
              <a:ext uri="{FF2B5EF4-FFF2-40B4-BE49-F238E27FC236}">
                <a16:creationId xmlns:a16="http://schemas.microsoft.com/office/drawing/2014/main" id="{2F166A15-27CC-5DCC-A92C-432DC9C0BCBC}"/>
              </a:ext>
            </a:extLst>
          </p:cNvPr>
          <p:cNvSpPr/>
          <p:nvPr/>
        </p:nvSpPr>
        <p:spPr>
          <a:xfrm>
            <a:off x="6414828" y="4546302"/>
            <a:ext cx="22809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068" name="Shape 40">
            <a:extLst>
              <a:ext uri="{FF2B5EF4-FFF2-40B4-BE49-F238E27FC236}">
                <a16:creationId xmlns:a16="http://schemas.microsoft.com/office/drawing/2014/main" id="{DF8A02DD-EE7B-F9F5-28F9-4290FEB14E2B}"/>
              </a:ext>
            </a:extLst>
          </p:cNvPr>
          <p:cNvSpPr/>
          <p:nvPr/>
        </p:nvSpPr>
        <p:spPr>
          <a:xfrm>
            <a:off x="8952879" y="4394994"/>
            <a:ext cx="2583691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70" name="Text 41">
            <a:extLst>
              <a:ext uri="{FF2B5EF4-FFF2-40B4-BE49-F238E27FC236}">
                <a16:creationId xmlns:a16="http://schemas.microsoft.com/office/drawing/2014/main" id="{4C32CAF2-7AC0-9A76-403D-F38CEB91FA2E}"/>
              </a:ext>
            </a:extLst>
          </p:cNvPr>
          <p:cNvSpPr/>
          <p:nvPr/>
        </p:nvSpPr>
        <p:spPr>
          <a:xfrm>
            <a:off x="9104184" y="4546302"/>
            <a:ext cx="2281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072" name="Shape 42">
            <a:extLst>
              <a:ext uri="{FF2B5EF4-FFF2-40B4-BE49-F238E27FC236}">
                <a16:creationId xmlns:a16="http://schemas.microsoft.com/office/drawing/2014/main" id="{57A2AC5B-310B-1325-F8E5-5D80994D9E1C}"/>
              </a:ext>
            </a:extLst>
          </p:cNvPr>
          <p:cNvSpPr/>
          <p:nvPr/>
        </p:nvSpPr>
        <p:spPr>
          <a:xfrm>
            <a:off x="6263523" y="5010051"/>
            <a:ext cx="2583592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74" name="Text 43">
            <a:extLst>
              <a:ext uri="{FF2B5EF4-FFF2-40B4-BE49-F238E27FC236}">
                <a16:creationId xmlns:a16="http://schemas.microsoft.com/office/drawing/2014/main" id="{D3A4AF9B-643C-E03F-F5F2-6B6C2F36708B}"/>
              </a:ext>
            </a:extLst>
          </p:cNvPr>
          <p:cNvSpPr/>
          <p:nvPr/>
        </p:nvSpPr>
        <p:spPr>
          <a:xfrm>
            <a:off x="6414828" y="5161359"/>
            <a:ext cx="22809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076" name="Shape 44">
            <a:extLst>
              <a:ext uri="{FF2B5EF4-FFF2-40B4-BE49-F238E27FC236}">
                <a16:creationId xmlns:a16="http://schemas.microsoft.com/office/drawing/2014/main" id="{9B3148CF-305D-B964-E2CD-0D8B3FE46492}"/>
              </a:ext>
            </a:extLst>
          </p:cNvPr>
          <p:cNvSpPr/>
          <p:nvPr/>
        </p:nvSpPr>
        <p:spPr>
          <a:xfrm>
            <a:off x="8952879" y="5010051"/>
            <a:ext cx="2583691" cy="509290"/>
          </a:xfrm>
          <a:prstGeom prst="roundRect">
            <a:avLst>
              <a:gd name="adj" fmla="val 3897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78" name="Text 45">
            <a:extLst>
              <a:ext uri="{FF2B5EF4-FFF2-40B4-BE49-F238E27FC236}">
                <a16:creationId xmlns:a16="http://schemas.microsoft.com/office/drawing/2014/main" id="{B9C90C78-A9DE-BC81-A3FB-3E380605CA61}"/>
              </a:ext>
            </a:extLst>
          </p:cNvPr>
          <p:cNvSpPr/>
          <p:nvPr/>
        </p:nvSpPr>
        <p:spPr>
          <a:xfrm>
            <a:off x="9104184" y="5161359"/>
            <a:ext cx="2281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2080" name="Shape 46">
            <a:extLst>
              <a:ext uri="{FF2B5EF4-FFF2-40B4-BE49-F238E27FC236}">
                <a16:creationId xmlns:a16="http://schemas.microsoft.com/office/drawing/2014/main" id="{1C636729-F8E3-CC7F-53C4-0B072BA47538}"/>
              </a:ext>
            </a:extLst>
          </p:cNvPr>
          <p:cNvSpPr/>
          <p:nvPr/>
        </p:nvSpPr>
        <p:spPr>
          <a:xfrm>
            <a:off x="6263523" y="5638403"/>
            <a:ext cx="5273047" cy="637580"/>
          </a:xfrm>
          <a:prstGeom prst="roundRect">
            <a:avLst>
              <a:gd name="adj" fmla="val 311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2084" name="Text 47">
            <a:extLst>
              <a:ext uri="{FF2B5EF4-FFF2-40B4-BE49-F238E27FC236}">
                <a16:creationId xmlns:a16="http://schemas.microsoft.com/office/drawing/2014/main" id="{F0DB1364-B2CC-0405-A4D5-F42CCCA06763}"/>
              </a:ext>
            </a:extLst>
          </p:cNvPr>
          <p:cNvSpPr/>
          <p:nvPr/>
        </p:nvSpPr>
        <p:spPr>
          <a:xfrm>
            <a:off x="6693328" y="5766693"/>
            <a:ext cx="4710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Functional</a:t>
            </a: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requirements describe WHAT the system does; </a:t>
            </a:r>
            <a:r>
              <a:rPr lang="en-US" sz="100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Non-functional</a:t>
            </a: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requirements describe HOW it performs.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89891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1367-2EF5-F585-CC6D-1F8EBC7B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B1A1877B-130E-CD2A-8177-7B0E4DDE0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321C211-716F-2CB6-0E26-CBB97392355D}"/>
              </a:ext>
            </a:extLst>
          </p:cNvPr>
          <p:cNvGrpSpPr/>
          <p:nvPr/>
        </p:nvGrpSpPr>
        <p:grpSpPr>
          <a:xfrm>
            <a:off x="2928035" y="136524"/>
            <a:ext cx="626430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35CE4E-C778-9D3B-8D34-B25C95160B8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C8949EA-5B5F-5293-E2C2-CB9C5FF09A1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0BCF9730-E42F-4D2B-48AD-40A16F2D352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0DC894-0B82-435F-BB6F-F785B9E1C61A}"/>
                </a:ext>
              </a:extLst>
            </p:cNvPr>
            <p:cNvSpPr/>
            <p:nvPr/>
          </p:nvSpPr>
          <p:spPr>
            <a:xfrm>
              <a:off x="13447430" y="1588799"/>
              <a:ext cx="5635331" cy="7841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>
                  <a:latin typeface="Book Antiqua"/>
                </a:rPr>
                <a:t>END USERS ,MODULES AND ENTITIES</a:t>
              </a:r>
              <a:endParaRPr sz="2000" b="1" dirty="0">
                <a:latin typeface="Book Antiqua"/>
              </a:endParaRPr>
            </a:p>
          </p:txBody>
        </p: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7F5F6109-E7FB-5A24-C857-F8C34C57A2C0}"/>
              </a:ext>
            </a:extLst>
          </p:cNvPr>
          <p:cNvSpPr/>
          <p:nvPr/>
        </p:nvSpPr>
        <p:spPr>
          <a:xfrm>
            <a:off x="661475" y="14380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End Users &amp; Responsibilities</a:t>
            </a:r>
            <a:endParaRPr lang="en-US" sz="12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A6E58DF-82CD-739A-A334-A1B82063C6A4}"/>
              </a:ext>
            </a:extLst>
          </p:cNvPr>
          <p:cNvSpPr/>
          <p:nvPr/>
        </p:nvSpPr>
        <p:spPr>
          <a:xfrm>
            <a:off x="661475" y="1736427"/>
            <a:ext cx="5283068" cy="1266230"/>
          </a:xfrm>
          <a:prstGeom prst="roundRect">
            <a:avLst>
              <a:gd name="adj" fmla="val 146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DC495710-F983-C7B2-35A4-CE97A13FD767}"/>
              </a:ext>
            </a:extLst>
          </p:cNvPr>
          <p:cNvSpPr/>
          <p:nvPr/>
        </p:nvSpPr>
        <p:spPr>
          <a:xfrm>
            <a:off x="661475" y="2043807"/>
            <a:ext cx="5283068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A49AC590-71DA-A5CB-B572-1C4E2575A199}"/>
              </a:ext>
            </a:extLst>
          </p:cNvPr>
          <p:cNvSpPr/>
          <p:nvPr/>
        </p:nvSpPr>
        <p:spPr>
          <a:xfrm>
            <a:off x="661475" y="2521645"/>
            <a:ext cx="5283068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6843B15-909C-1643-9B23-77FFDE2D5D42}"/>
              </a:ext>
            </a:extLst>
          </p:cNvPr>
          <p:cNvSpPr/>
          <p:nvPr/>
        </p:nvSpPr>
        <p:spPr>
          <a:xfrm>
            <a:off x="791845" y="1804888"/>
            <a:ext cx="220617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User</a:t>
            </a:r>
            <a:endParaRPr lang="en-US" sz="9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B2FD123-CDB1-23BC-3EAC-BA6C5F0D152C}"/>
              </a:ext>
            </a:extLst>
          </p:cNvPr>
          <p:cNvSpPr/>
          <p:nvPr/>
        </p:nvSpPr>
        <p:spPr>
          <a:xfrm>
            <a:off x="2636474" y="1804888"/>
            <a:ext cx="378728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Responsibilities</a:t>
            </a:r>
            <a:endParaRPr lang="en-US" sz="95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5CC0F0E-A774-1EF6-52F6-4579E06A986B}"/>
              </a:ext>
            </a:extLst>
          </p:cNvPr>
          <p:cNvSpPr/>
          <p:nvPr/>
        </p:nvSpPr>
        <p:spPr>
          <a:xfrm>
            <a:off x="791845" y="2109093"/>
            <a:ext cx="220617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Gym Administrator</a:t>
            </a:r>
            <a:endParaRPr lang="en-US" sz="95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FBE3E0E-0CE1-1C66-BA45-4B0DE54D2496}"/>
              </a:ext>
            </a:extLst>
          </p:cNvPr>
          <p:cNvSpPr/>
          <p:nvPr/>
        </p:nvSpPr>
        <p:spPr>
          <a:xfrm>
            <a:off x="2636474" y="2109093"/>
            <a:ext cx="31776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members, trainers, memberships, payments, attendance</a:t>
            </a:r>
            <a:endParaRPr lang="en-US" sz="95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B9FA9714-39B5-6B6D-E386-A47EABAA76B9}"/>
              </a:ext>
            </a:extLst>
          </p:cNvPr>
          <p:cNvSpPr/>
          <p:nvPr/>
        </p:nvSpPr>
        <p:spPr>
          <a:xfrm>
            <a:off x="791845" y="2586930"/>
            <a:ext cx="220617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Trainer</a:t>
            </a:r>
            <a:endParaRPr lang="en-US" sz="95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5AFC1EFA-86BE-87BF-1B37-9682D8ECF4C6}"/>
              </a:ext>
            </a:extLst>
          </p:cNvPr>
          <p:cNvSpPr/>
          <p:nvPr/>
        </p:nvSpPr>
        <p:spPr>
          <a:xfrm>
            <a:off x="2636474" y="2586930"/>
            <a:ext cx="31776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workout information and monitor assigned members</a:t>
            </a:r>
            <a:endParaRPr lang="en-US" sz="95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52FF743C-32DB-3F4D-F2E5-DC3CE07EE7BE}"/>
              </a:ext>
            </a:extLst>
          </p:cNvPr>
          <p:cNvSpPr/>
          <p:nvPr/>
        </p:nvSpPr>
        <p:spPr>
          <a:xfrm>
            <a:off x="661475" y="310723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Modules</a:t>
            </a:r>
            <a:endParaRPr lang="en-US" sz="1200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D3C1B3CE-E2B6-A24A-825E-C6AEE3325B92}"/>
              </a:ext>
            </a:extLst>
          </p:cNvPr>
          <p:cNvSpPr/>
          <p:nvPr/>
        </p:nvSpPr>
        <p:spPr>
          <a:xfrm>
            <a:off x="661475" y="3405584"/>
            <a:ext cx="5283068" cy="1325463"/>
          </a:xfrm>
          <a:prstGeom prst="roundRect">
            <a:avLst>
              <a:gd name="adj" fmla="val 1404"/>
            </a:avLst>
          </a:prstGeom>
          <a:solidFill>
            <a:srgbClr val="F0EDE6"/>
          </a:solidFill>
          <a:ln/>
        </p:spPr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A37C5D38-8285-A213-EDFE-21D10134C15B}"/>
              </a:ext>
            </a:extLst>
          </p:cNvPr>
          <p:cNvSpPr/>
          <p:nvPr/>
        </p:nvSpPr>
        <p:spPr>
          <a:xfrm>
            <a:off x="661475" y="3405584"/>
            <a:ext cx="5283068" cy="441821"/>
          </a:xfrm>
          <a:custGeom>
            <a:avLst/>
            <a:gdLst/>
            <a:ahLst/>
            <a:cxnLst/>
            <a:rect l="l" t="t" r="r" b="b"/>
            <a:pathLst>
              <a:path w="5283068" h="441821">
                <a:moveTo>
                  <a:pt x="15505" y="0"/>
                </a:moveTo>
                <a:lnTo>
                  <a:pt x="5267562" y="0"/>
                </a:lnTo>
                <a:arcTo wR="15505" hR="15506" stAng="16200000" swAng="5400000"/>
                <a:lnTo>
                  <a:pt x="5283068" y="441821"/>
                </a:lnTo>
                <a:lnTo>
                  <a:pt x="0" y="441821"/>
                </a:lnTo>
                <a:lnTo>
                  <a:pt x="0" y="15506"/>
                </a:lnTo>
                <a:arcTo wR="15505" hR="15506" stAng="10800000" swAng="5400000"/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B350B6EC-D234-6E7B-125E-DFCFB6BB9BD6}"/>
              </a:ext>
            </a:extLst>
          </p:cNvPr>
          <p:cNvSpPr/>
          <p:nvPr/>
        </p:nvSpPr>
        <p:spPr>
          <a:xfrm>
            <a:off x="785495" y="3529608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 Management</a:t>
            </a:r>
            <a:endParaRPr lang="en-US" sz="1200" dirty="0"/>
          </a:p>
        </p:txBody>
      </p:sp>
      <p:sp>
        <p:nvSpPr>
          <p:cNvPr id="2048" name="Shape 17">
            <a:extLst>
              <a:ext uri="{FF2B5EF4-FFF2-40B4-BE49-F238E27FC236}">
                <a16:creationId xmlns:a16="http://schemas.microsoft.com/office/drawing/2014/main" id="{8E8DD8A0-6AA1-5B38-76B7-0FD24049E76D}"/>
              </a:ext>
            </a:extLst>
          </p:cNvPr>
          <p:cNvSpPr/>
          <p:nvPr/>
        </p:nvSpPr>
        <p:spPr>
          <a:xfrm>
            <a:off x="661475" y="3847405"/>
            <a:ext cx="5283068" cy="441821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053" name="Shape 18">
            <a:extLst>
              <a:ext uri="{FF2B5EF4-FFF2-40B4-BE49-F238E27FC236}">
                <a16:creationId xmlns:a16="http://schemas.microsoft.com/office/drawing/2014/main" id="{43C208B2-4A55-9B03-6004-6883C4BAFC73}"/>
              </a:ext>
            </a:extLst>
          </p:cNvPr>
          <p:cNvSpPr/>
          <p:nvPr/>
        </p:nvSpPr>
        <p:spPr>
          <a:xfrm>
            <a:off x="661475" y="3847405"/>
            <a:ext cx="5283068" cy="1270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057" name="Text 19">
            <a:extLst>
              <a:ext uri="{FF2B5EF4-FFF2-40B4-BE49-F238E27FC236}">
                <a16:creationId xmlns:a16="http://schemas.microsoft.com/office/drawing/2014/main" id="{47E0C35D-F132-83BD-F5CF-711E09614E19}"/>
              </a:ext>
            </a:extLst>
          </p:cNvPr>
          <p:cNvSpPr/>
          <p:nvPr/>
        </p:nvSpPr>
        <p:spPr>
          <a:xfrm>
            <a:off x="785495" y="3971429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Trainer Management</a:t>
            </a:r>
            <a:endParaRPr lang="en-US" sz="1200" dirty="0"/>
          </a:p>
        </p:txBody>
      </p:sp>
      <p:sp>
        <p:nvSpPr>
          <p:cNvPr id="2061" name="Shape 20">
            <a:extLst>
              <a:ext uri="{FF2B5EF4-FFF2-40B4-BE49-F238E27FC236}">
                <a16:creationId xmlns:a16="http://schemas.microsoft.com/office/drawing/2014/main" id="{14F96AE3-1768-78CC-00E7-82D2613D9B76}"/>
              </a:ext>
            </a:extLst>
          </p:cNvPr>
          <p:cNvSpPr/>
          <p:nvPr/>
        </p:nvSpPr>
        <p:spPr>
          <a:xfrm>
            <a:off x="661475" y="4289227"/>
            <a:ext cx="5283068" cy="441821"/>
          </a:xfrm>
          <a:custGeom>
            <a:avLst/>
            <a:gdLst/>
            <a:ahLst/>
            <a:cxnLst/>
            <a:rect l="l" t="t" r="r" b="b"/>
            <a:pathLst>
              <a:path w="5283068" h="441821">
                <a:moveTo>
                  <a:pt x="0" y="0"/>
                </a:moveTo>
                <a:lnTo>
                  <a:pt x="5283068" y="0"/>
                </a:lnTo>
                <a:lnTo>
                  <a:pt x="5283068" y="426315"/>
                </a:lnTo>
                <a:arcTo wR="15505" hR="15506" stAng="0" swAng="5400000"/>
                <a:lnTo>
                  <a:pt x="15505" y="441821"/>
                </a:lnTo>
                <a:arcTo wR="15505" hR="15506" stAng="5400000" swAng="5400000"/>
                <a:lnTo>
                  <a:pt x="0" y="0"/>
                </a:lnTo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65" name="Shape 21">
            <a:extLst>
              <a:ext uri="{FF2B5EF4-FFF2-40B4-BE49-F238E27FC236}">
                <a16:creationId xmlns:a16="http://schemas.microsoft.com/office/drawing/2014/main" id="{826B6652-B5E6-B494-2487-A9C8C0DA3D3C}"/>
              </a:ext>
            </a:extLst>
          </p:cNvPr>
          <p:cNvSpPr/>
          <p:nvPr/>
        </p:nvSpPr>
        <p:spPr>
          <a:xfrm>
            <a:off x="661475" y="4289227"/>
            <a:ext cx="5283068" cy="1270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069" name="Text 22">
            <a:extLst>
              <a:ext uri="{FF2B5EF4-FFF2-40B4-BE49-F238E27FC236}">
                <a16:creationId xmlns:a16="http://schemas.microsoft.com/office/drawing/2014/main" id="{50C9FC59-DDF4-6C24-6C1F-7E7A93F12B5C}"/>
              </a:ext>
            </a:extLst>
          </p:cNvPr>
          <p:cNvSpPr/>
          <p:nvPr/>
        </p:nvSpPr>
        <p:spPr>
          <a:xfrm>
            <a:off x="785495" y="4413250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Membership Management</a:t>
            </a:r>
            <a:endParaRPr lang="en-US" sz="1200" dirty="0"/>
          </a:p>
        </p:txBody>
      </p:sp>
      <p:sp>
        <p:nvSpPr>
          <p:cNvPr id="2073" name="Shape 23">
            <a:extLst>
              <a:ext uri="{FF2B5EF4-FFF2-40B4-BE49-F238E27FC236}">
                <a16:creationId xmlns:a16="http://schemas.microsoft.com/office/drawing/2014/main" id="{ECDA77C2-C5F8-2527-A8DC-F7AB65625E11}"/>
              </a:ext>
            </a:extLst>
          </p:cNvPr>
          <p:cNvSpPr/>
          <p:nvPr/>
        </p:nvSpPr>
        <p:spPr>
          <a:xfrm>
            <a:off x="661475" y="4835624"/>
            <a:ext cx="5283068" cy="1325463"/>
          </a:xfrm>
          <a:prstGeom prst="roundRect">
            <a:avLst>
              <a:gd name="adj" fmla="val 1404"/>
            </a:avLst>
          </a:prstGeom>
          <a:solidFill>
            <a:srgbClr val="F0EDE6"/>
          </a:solidFill>
          <a:ln/>
        </p:spPr>
      </p:sp>
      <p:sp>
        <p:nvSpPr>
          <p:cNvPr id="2077" name="Shape 24">
            <a:extLst>
              <a:ext uri="{FF2B5EF4-FFF2-40B4-BE49-F238E27FC236}">
                <a16:creationId xmlns:a16="http://schemas.microsoft.com/office/drawing/2014/main" id="{5168B32E-DFD9-9982-7D01-6AFAD0E4C2BF}"/>
              </a:ext>
            </a:extLst>
          </p:cNvPr>
          <p:cNvSpPr/>
          <p:nvPr/>
        </p:nvSpPr>
        <p:spPr>
          <a:xfrm>
            <a:off x="661475" y="4835624"/>
            <a:ext cx="5283068" cy="441821"/>
          </a:xfrm>
          <a:custGeom>
            <a:avLst/>
            <a:gdLst/>
            <a:ahLst/>
            <a:cxnLst/>
            <a:rect l="l" t="t" r="r" b="b"/>
            <a:pathLst>
              <a:path w="5283068" h="441821">
                <a:moveTo>
                  <a:pt x="15505" y="0"/>
                </a:moveTo>
                <a:lnTo>
                  <a:pt x="5267562" y="0"/>
                </a:lnTo>
                <a:arcTo wR="15505" hR="15506" stAng="16200000" swAng="5400000"/>
                <a:lnTo>
                  <a:pt x="5283068" y="441821"/>
                </a:lnTo>
                <a:lnTo>
                  <a:pt x="0" y="441821"/>
                </a:lnTo>
                <a:lnTo>
                  <a:pt x="0" y="15506"/>
                </a:lnTo>
                <a:arcTo wR="15505" hR="15506" stAng="10800000" swAng="5400000"/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81" name="Text 25">
            <a:extLst>
              <a:ext uri="{FF2B5EF4-FFF2-40B4-BE49-F238E27FC236}">
                <a16:creationId xmlns:a16="http://schemas.microsoft.com/office/drawing/2014/main" id="{979865EF-3283-D6BD-3F73-FC6BB82382E3}"/>
              </a:ext>
            </a:extLst>
          </p:cNvPr>
          <p:cNvSpPr/>
          <p:nvPr/>
        </p:nvSpPr>
        <p:spPr>
          <a:xfrm>
            <a:off x="785495" y="4959648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Payment Management</a:t>
            </a:r>
            <a:endParaRPr lang="en-US" sz="1200" dirty="0"/>
          </a:p>
        </p:txBody>
      </p:sp>
      <p:sp>
        <p:nvSpPr>
          <p:cNvPr id="2083" name="Shape 26">
            <a:extLst>
              <a:ext uri="{FF2B5EF4-FFF2-40B4-BE49-F238E27FC236}">
                <a16:creationId xmlns:a16="http://schemas.microsoft.com/office/drawing/2014/main" id="{C89EC140-8A99-00F3-B20F-0F0B2AD470FA}"/>
              </a:ext>
            </a:extLst>
          </p:cNvPr>
          <p:cNvSpPr/>
          <p:nvPr/>
        </p:nvSpPr>
        <p:spPr>
          <a:xfrm>
            <a:off x="661475" y="5277445"/>
            <a:ext cx="5283068" cy="441821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086" name="Shape 27">
            <a:extLst>
              <a:ext uri="{FF2B5EF4-FFF2-40B4-BE49-F238E27FC236}">
                <a16:creationId xmlns:a16="http://schemas.microsoft.com/office/drawing/2014/main" id="{BD5268D8-D358-4480-F8DE-BE537242C9E7}"/>
              </a:ext>
            </a:extLst>
          </p:cNvPr>
          <p:cNvSpPr/>
          <p:nvPr/>
        </p:nvSpPr>
        <p:spPr>
          <a:xfrm>
            <a:off x="661475" y="5277445"/>
            <a:ext cx="5283068" cy="1270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088" name="Text 28">
            <a:extLst>
              <a:ext uri="{FF2B5EF4-FFF2-40B4-BE49-F238E27FC236}">
                <a16:creationId xmlns:a16="http://schemas.microsoft.com/office/drawing/2014/main" id="{478BD514-15B0-B8DD-8C43-2F8FC598DBEE}"/>
              </a:ext>
            </a:extLst>
          </p:cNvPr>
          <p:cNvSpPr/>
          <p:nvPr/>
        </p:nvSpPr>
        <p:spPr>
          <a:xfrm>
            <a:off x="785495" y="5401469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Attendance Management</a:t>
            </a:r>
            <a:endParaRPr lang="en-US" sz="1200" dirty="0"/>
          </a:p>
        </p:txBody>
      </p:sp>
      <p:sp>
        <p:nvSpPr>
          <p:cNvPr id="2090" name="Shape 29">
            <a:extLst>
              <a:ext uri="{FF2B5EF4-FFF2-40B4-BE49-F238E27FC236}">
                <a16:creationId xmlns:a16="http://schemas.microsoft.com/office/drawing/2014/main" id="{F06A20AE-EAD8-DE5D-9412-86EE47B2A0CD}"/>
              </a:ext>
            </a:extLst>
          </p:cNvPr>
          <p:cNvSpPr/>
          <p:nvPr/>
        </p:nvSpPr>
        <p:spPr>
          <a:xfrm>
            <a:off x="661475" y="5719266"/>
            <a:ext cx="5283068" cy="441821"/>
          </a:xfrm>
          <a:custGeom>
            <a:avLst/>
            <a:gdLst/>
            <a:ahLst/>
            <a:cxnLst/>
            <a:rect l="l" t="t" r="r" b="b"/>
            <a:pathLst>
              <a:path w="5283068" h="441821">
                <a:moveTo>
                  <a:pt x="0" y="0"/>
                </a:moveTo>
                <a:lnTo>
                  <a:pt x="5283068" y="0"/>
                </a:lnTo>
                <a:lnTo>
                  <a:pt x="5283068" y="426315"/>
                </a:lnTo>
                <a:arcTo wR="15505" hR="15506" stAng="0" swAng="5400000"/>
                <a:lnTo>
                  <a:pt x="15505" y="441821"/>
                </a:lnTo>
                <a:arcTo wR="15505" hR="15506" stAng="5400000" swAng="5400000"/>
                <a:lnTo>
                  <a:pt x="0" y="0"/>
                </a:lnTo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92" name="Shape 30">
            <a:extLst>
              <a:ext uri="{FF2B5EF4-FFF2-40B4-BE49-F238E27FC236}">
                <a16:creationId xmlns:a16="http://schemas.microsoft.com/office/drawing/2014/main" id="{B5751587-812C-B415-9E72-3980C2A3531E}"/>
              </a:ext>
            </a:extLst>
          </p:cNvPr>
          <p:cNvSpPr/>
          <p:nvPr/>
        </p:nvSpPr>
        <p:spPr>
          <a:xfrm>
            <a:off x="661475" y="5719266"/>
            <a:ext cx="5283068" cy="1270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094" name="Text 31">
            <a:extLst>
              <a:ext uri="{FF2B5EF4-FFF2-40B4-BE49-F238E27FC236}">
                <a16:creationId xmlns:a16="http://schemas.microsoft.com/office/drawing/2014/main" id="{EEE813CB-F9E5-8532-0B24-E0179465E3CA}"/>
              </a:ext>
            </a:extLst>
          </p:cNvPr>
          <p:cNvSpPr/>
          <p:nvPr/>
        </p:nvSpPr>
        <p:spPr>
          <a:xfrm>
            <a:off x="785495" y="5843290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Workout Management</a:t>
            </a:r>
            <a:endParaRPr lang="en-US" sz="1200" dirty="0"/>
          </a:p>
        </p:txBody>
      </p:sp>
      <p:sp>
        <p:nvSpPr>
          <p:cNvPr id="2096" name="Text 32">
            <a:extLst>
              <a:ext uri="{FF2B5EF4-FFF2-40B4-BE49-F238E27FC236}">
                <a16:creationId xmlns:a16="http://schemas.microsoft.com/office/drawing/2014/main" id="{B1684E55-D0D7-BBC5-0487-4146D0027871}"/>
              </a:ext>
            </a:extLst>
          </p:cNvPr>
          <p:cNvSpPr/>
          <p:nvPr/>
        </p:nvSpPr>
        <p:spPr>
          <a:xfrm>
            <a:off x="6253502" y="14380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Entities</a:t>
            </a:r>
            <a:endParaRPr lang="en-US" sz="1200" dirty="0"/>
          </a:p>
        </p:txBody>
      </p:sp>
      <p:sp>
        <p:nvSpPr>
          <p:cNvPr id="2098" name="Shape 33">
            <a:extLst>
              <a:ext uri="{FF2B5EF4-FFF2-40B4-BE49-F238E27FC236}">
                <a16:creationId xmlns:a16="http://schemas.microsoft.com/office/drawing/2014/main" id="{AC6B56D3-9382-5324-5147-26568FA286BC}"/>
              </a:ext>
            </a:extLst>
          </p:cNvPr>
          <p:cNvSpPr/>
          <p:nvPr/>
        </p:nvSpPr>
        <p:spPr>
          <a:xfrm>
            <a:off x="6253502" y="1736427"/>
            <a:ext cx="5283068" cy="2097683"/>
          </a:xfrm>
          <a:prstGeom prst="roundRect">
            <a:avLst>
              <a:gd name="adj" fmla="val 88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00" name="Shape 34">
            <a:extLst>
              <a:ext uri="{FF2B5EF4-FFF2-40B4-BE49-F238E27FC236}">
                <a16:creationId xmlns:a16="http://schemas.microsoft.com/office/drawing/2014/main" id="{37642316-DA3F-4593-2D8C-E96C061A13B0}"/>
              </a:ext>
            </a:extLst>
          </p:cNvPr>
          <p:cNvSpPr/>
          <p:nvPr/>
        </p:nvSpPr>
        <p:spPr>
          <a:xfrm>
            <a:off x="6259852" y="1742777"/>
            <a:ext cx="5270368" cy="2978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02" name="Text 35">
            <a:extLst>
              <a:ext uri="{FF2B5EF4-FFF2-40B4-BE49-F238E27FC236}">
                <a16:creationId xmlns:a16="http://schemas.microsoft.com/office/drawing/2014/main" id="{BAAB8ADB-8F62-8965-4BCE-E4594EF70D93}"/>
              </a:ext>
            </a:extLst>
          </p:cNvPr>
          <p:cNvSpPr/>
          <p:nvPr/>
        </p:nvSpPr>
        <p:spPr>
          <a:xfrm>
            <a:off x="6383872" y="1804888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Entity</a:t>
            </a:r>
            <a:endParaRPr lang="en-US" sz="950" dirty="0"/>
          </a:p>
        </p:txBody>
      </p:sp>
      <p:sp>
        <p:nvSpPr>
          <p:cNvPr id="2104" name="Shape 37">
            <a:extLst>
              <a:ext uri="{FF2B5EF4-FFF2-40B4-BE49-F238E27FC236}">
                <a16:creationId xmlns:a16="http://schemas.microsoft.com/office/drawing/2014/main" id="{373E9637-DE30-0E80-F46A-2604A13C2A7C}"/>
              </a:ext>
            </a:extLst>
          </p:cNvPr>
          <p:cNvSpPr/>
          <p:nvPr/>
        </p:nvSpPr>
        <p:spPr>
          <a:xfrm>
            <a:off x="6259852" y="2040632"/>
            <a:ext cx="5270368" cy="2978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06" name="Text 38">
            <a:extLst>
              <a:ext uri="{FF2B5EF4-FFF2-40B4-BE49-F238E27FC236}">
                <a16:creationId xmlns:a16="http://schemas.microsoft.com/office/drawing/2014/main" id="{774F9628-4F22-F24E-9A72-A875FBC3F013}"/>
              </a:ext>
            </a:extLst>
          </p:cNvPr>
          <p:cNvSpPr/>
          <p:nvPr/>
        </p:nvSpPr>
        <p:spPr>
          <a:xfrm>
            <a:off x="6383872" y="2102743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</a:t>
            </a:r>
            <a:endParaRPr lang="en-US" sz="950" dirty="0"/>
          </a:p>
        </p:txBody>
      </p:sp>
      <p:sp>
        <p:nvSpPr>
          <p:cNvPr id="2108" name="Shape 40">
            <a:extLst>
              <a:ext uri="{FF2B5EF4-FFF2-40B4-BE49-F238E27FC236}">
                <a16:creationId xmlns:a16="http://schemas.microsoft.com/office/drawing/2014/main" id="{240B4E6F-518E-7999-E951-6489A15B9E9B}"/>
              </a:ext>
            </a:extLst>
          </p:cNvPr>
          <p:cNvSpPr/>
          <p:nvPr/>
        </p:nvSpPr>
        <p:spPr>
          <a:xfrm>
            <a:off x="6259852" y="2338487"/>
            <a:ext cx="5270368" cy="2978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10" name="Text 41">
            <a:extLst>
              <a:ext uri="{FF2B5EF4-FFF2-40B4-BE49-F238E27FC236}">
                <a16:creationId xmlns:a16="http://schemas.microsoft.com/office/drawing/2014/main" id="{68551340-CBDB-0B62-A93B-B99D9ED9D49C}"/>
              </a:ext>
            </a:extLst>
          </p:cNvPr>
          <p:cNvSpPr/>
          <p:nvPr/>
        </p:nvSpPr>
        <p:spPr>
          <a:xfrm>
            <a:off x="6383872" y="2400598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Trainer</a:t>
            </a:r>
            <a:endParaRPr lang="en-US" sz="950" dirty="0"/>
          </a:p>
        </p:txBody>
      </p:sp>
      <p:sp>
        <p:nvSpPr>
          <p:cNvPr id="2112" name="Shape 43">
            <a:extLst>
              <a:ext uri="{FF2B5EF4-FFF2-40B4-BE49-F238E27FC236}">
                <a16:creationId xmlns:a16="http://schemas.microsoft.com/office/drawing/2014/main" id="{6F6D670B-3CB1-0C79-F2A5-FC9A704E00CC}"/>
              </a:ext>
            </a:extLst>
          </p:cNvPr>
          <p:cNvSpPr/>
          <p:nvPr/>
        </p:nvSpPr>
        <p:spPr>
          <a:xfrm>
            <a:off x="6259852" y="2636341"/>
            <a:ext cx="5270368" cy="2978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14" name="Text 44">
            <a:extLst>
              <a:ext uri="{FF2B5EF4-FFF2-40B4-BE49-F238E27FC236}">
                <a16:creationId xmlns:a16="http://schemas.microsoft.com/office/drawing/2014/main" id="{6061E234-97F6-997B-580C-8B973AE9FB69}"/>
              </a:ext>
            </a:extLst>
          </p:cNvPr>
          <p:cNvSpPr/>
          <p:nvPr/>
        </p:nvSpPr>
        <p:spPr>
          <a:xfrm>
            <a:off x="6383872" y="2698452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Membership</a:t>
            </a:r>
            <a:endParaRPr lang="en-US" sz="950" dirty="0"/>
          </a:p>
        </p:txBody>
      </p:sp>
      <p:sp>
        <p:nvSpPr>
          <p:cNvPr id="2116" name="Shape 46">
            <a:extLst>
              <a:ext uri="{FF2B5EF4-FFF2-40B4-BE49-F238E27FC236}">
                <a16:creationId xmlns:a16="http://schemas.microsoft.com/office/drawing/2014/main" id="{C9794A58-6BD6-8072-A24E-2B30D2BE0425}"/>
              </a:ext>
            </a:extLst>
          </p:cNvPr>
          <p:cNvSpPr/>
          <p:nvPr/>
        </p:nvSpPr>
        <p:spPr>
          <a:xfrm>
            <a:off x="6259852" y="2934196"/>
            <a:ext cx="5270368" cy="2978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18" name="Text 47">
            <a:extLst>
              <a:ext uri="{FF2B5EF4-FFF2-40B4-BE49-F238E27FC236}">
                <a16:creationId xmlns:a16="http://schemas.microsoft.com/office/drawing/2014/main" id="{74206F4E-7CC5-2914-A15F-41130104BAA9}"/>
              </a:ext>
            </a:extLst>
          </p:cNvPr>
          <p:cNvSpPr/>
          <p:nvPr/>
        </p:nvSpPr>
        <p:spPr>
          <a:xfrm>
            <a:off x="6383872" y="2996307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Payment</a:t>
            </a:r>
            <a:endParaRPr lang="en-US" sz="950" dirty="0"/>
          </a:p>
        </p:txBody>
      </p:sp>
      <p:sp>
        <p:nvSpPr>
          <p:cNvPr id="2120" name="Shape 49">
            <a:extLst>
              <a:ext uri="{FF2B5EF4-FFF2-40B4-BE49-F238E27FC236}">
                <a16:creationId xmlns:a16="http://schemas.microsoft.com/office/drawing/2014/main" id="{4D476AEA-2596-75E0-06B9-85A6720040C3}"/>
              </a:ext>
            </a:extLst>
          </p:cNvPr>
          <p:cNvSpPr/>
          <p:nvPr/>
        </p:nvSpPr>
        <p:spPr>
          <a:xfrm>
            <a:off x="6259852" y="3232051"/>
            <a:ext cx="5270368" cy="2978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22" name="Text 50">
            <a:extLst>
              <a:ext uri="{FF2B5EF4-FFF2-40B4-BE49-F238E27FC236}">
                <a16:creationId xmlns:a16="http://schemas.microsoft.com/office/drawing/2014/main" id="{C2E74608-5A54-5AED-769F-4C69BBEAA217}"/>
              </a:ext>
            </a:extLst>
          </p:cNvPr>
          <p:cNvSpPr/>
          <p:nvPr/>
        </p:nvSpPr>
        <p:spPr>
          <a:xfrm>
            <a:off x="6383872" y="3294162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Attendance</a:t>
            </a:r>
            <a:endParaRPr lang="en-US" sz="950" dirty="0"/>
          </a:p>
        </p:txBody>
      </p:sp>
      <p:sp>
        <p:nvSpPr>
          <p:cNvPr id="2124" name="Shape 52">
            <a:extLst>
              <a:ext uri="{FF2B5EF4-FFF2-40B4-BE49-F238E27FC236}">
                <a16:creationId xmlns:a16="http://schemas.microsoft.com/office/drawing/2014/main" id="{A81AD7BC-1DF8-FFD3-5D4B-37E80D0F3DD3}"/>
              </a:ext>
            </a:extLst>
          </p:cNvPr>
          <p:cNvSpPr/>
          <p:nvPr/>
        </p:nvSpPr>
        <p:spPr>
          <a:xfrm>
            <a:off x="6259852" y="3529905"/>
            <a:ext cx="5270368" cy="2978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26" name="Text 53">
            <a:extLst>
              <a:ext uri="{FF2B5EF4-FFF2-40B4-BE49-F238E27FC236}">
                <a16:creationId xmlns:a16="http://schemas.microsoft.com/office/drawing/2014/main" id="{58F991DE-A253-8179-9AFE-3484748DFCA4}"/>
              </a:ext>
            </a:extLst>
          </p:cNvPr>
          <p:cNvSpPr/>
          <p:nvPr/>
        </p:nvSpPr>
        <p:spPr>
          <a:xfrm>
            <a:off x="6383872" y="3592016"/>
            <a:ext cx="220299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Workout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3866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7B89-F0E3-0716-49D8-5D896CDC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67A038F7-DEC3-1BF8-CB2F-3BB96976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A2384FB-8185-635A-0522-2CD0F5F88E7E}"/>
              </a:ext>
            </a:extLst>
          </p:cNvPr>
          <p:cNvGrpSpPr/>
          <p:nvPr/>
        </p:nvGrpSpPr>
        <p:grpSpPr>
          <a:xfrm>
            <a:off x="2928035" y="136524"/>
            <a:ext cx="4810686" cy="1235076"/>
            <a:chOff x="13004829" y="1407596"/>
            <a:chExt cx="6325842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382703-EB90-D37E-4DBD-502A72A6A867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455E920-E668-95D0-88D5-4F336B0E9D5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3E5728A-34A4-43D6-5E8A-C4DD27C2B975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CD1BB-D74C-B618-B326-970B22EF365C}"/>
                </a:ext>
              </a:extLst>
            </p:cNvPr>
            <p:cNvSpPr/>
            <p:nvPr/>
          </p:nvSpPr>
          <p:spPr>
            <a:xfrm>
              <a:off x="13695340" y="151547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ENTITY ATTRIBUTES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55A0657F-59EC-C9EA-CFEB-BB1C102D5982}"/>
              </a:ext>
            </a:extLst>
          </p:cNvPr>
          <p:cNvSpPr/>
          <p:nvPr/>
        </p:nvSpPr>
        <p:spPr>
          <a:xfrm>
            <a:off x="661475" y="1436092"/>
            <a:ext cx="10868745" cy="2637135"/>
          </a:xfrm>
          <a:prstGeom prst="roundRect">
            <a:avLst>
              <a:gd name="adj" fmla="val 80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4460AB80-20A0-2B01-89F2-160CB5E92B53}"/>
              </a:ext>
            </a:extLst>
          </p:cNvPr>
          <p:cNvSpPr/>
          <p:nvPr/>
        </p:nvSpPr>
        <p:spPr>
          <a:xfrm>
            <a:off x="661475" y="1809651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22D8171-ECF7-8125-250F-97C762049214}"/>
              </a:ext>
            </a:extLst>
          </p:cNvPr>
          <p:cNvSpPr/>
          <p:nvPr/>
        </p:nvSpPr>
        <p:spPr>
          <a:xfrm>
            <a:off x="661475" y="2186384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37EA4A1-9347-8973-F2F1-3D0D475E77C0}"/>
              </a:ext>
            </a:extLst>
          </p:cNvPr>
          <p:cNvSpPr/>
          <p:nvPr/>
        </p:nvSpPr>
        <p:spPr>
          <a:xfrm>
            <a:off x="661475" y="2563118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D0B8F0B1-F3E9-5431-A896-78AB1302CA34}"/>
              </a:ext>
            </a:extLst>
          </p:cNvPr>
          <p:cNvSpPr/>
          <p:nvPr/>
        </p:nvSpPr>
        <p:spPr>
          <a:xfrm>
            <a:off x="661475" y="2939852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50FFD07F-2517-19C0-9522-82233A549A61}"/>
              </a:ext>
            </a:extLst>
          </p:cNvPr>
          <p:cNvSpPr/>
          <p:nvPr/>
        </p:nvSpPr>
        <p:spPr>
          <a:xfrm>
            <a:off x="661475" y="3316585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CD024F8D-6D90-2138-94A3-20EFF4CBD434}"/>
              </a:ext>
            </a:extLst>
          </p:cNvPr>
          <p:cNvSpPr/>
          <p:nvPr/>
        </p:nvSpPr>
        <p:spPr>
          <a:xfrm>
            <a:off x="661475" y="3693319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3D0AF1BE-E1CB-3376-23EB-D9ED3800DD5B}"/>
              </a:ext>
            </a:extLst>
          </p:cNvPr>
          <p:cNvSpPr/>
          <p:nvPr/>
        </p:nvSpPr>
        <p:spPr>
          <a:xfrm>
            <a:off x="2621988" y="1436092"/>
            <a:ext cx="8786" cy="26371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4EDD003-95CA-A179-C8D9-E251177C9888}"/>
              </a:ext>
            </a:extLst>
          </p:cNvPr>
          <p:cNvSpPr/>
          <p:nvPr/>
        </p:nvSpPr>
        <p:spPr>
          <a:xfrm>
            <a:off x="808414" y="1520428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Entity</a:t>
            </a:r>
            <a:endParaRPr lang="en-US" sz="11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1065100-D1EA-3C00-97FE-41E2CD51D722}"/>
              </a:ext>
            </a:extLst>
          </p:cNvPr>
          <p:cNvSpPr/>
          <p:nvPr/>
        </p:nvSpPr>
        <p:spPr>
          <a:xfrm>
            <a:off x="2765653" y="1520428"/>
            <a:ext cx="922731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D45A0CE3-1052-E293-0A03-D77B43EA94E7}"/>
              </a:ext>
            </a:extLst>
          </p:cNvPr>
          <p:cNvSpPr/>
          <p:nvPr/>
        </p:nvSpPr>
        <p:spPr>
          <a:xfrm>
            <a:off x="808414" y="1890812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</a:t>
            </a:r>
            <a:endParaRPr lang="en-US" sz="11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6684A016-5B6F-D582-2EBB-25DF2EE53873}"/>
              </a:ext>
            </a:extLst>
          </p:cNvPr>
          <p:cNvSpPr/>
          <p:nvPr/>
        </p:nvSpPr>
        <p:spPr>
          <a:xfrm>
            <a:off x="2765653" y="1890812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FirstName, LastName, Gender, Phone, JoinDate, Age</a:t>
            </a:r>
            <a:endParaRPr lang="en-US" sz="110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DE11EE8D-CA38-E067-AD69-0712C334E510}"/>
              </a:ext>
            </a:extLst>
          </p:cNvPr>
          <p:cNvSpPr/>
          <p:nvPr/>
        </p:nvSpPr>
        <p:spPr>
          <a:xfrm>
            <a:off x="808414" y="2267545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Trainer</a:t>
            </a:r>
            <a:endParaRPr lang="en-US" sz="1100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C5A54E02-541B-E639-2322-BCB0A38CA64C}"/>
              </a:ext>
            </a:extLst>
          </p:cNvPr>
          <p:cNvSpPr/>
          <p:nvPr/>
        </p:nvSpPr>
        <p:spPr>
          <a:xfrm>
            <a:off x="2765653" y="2267545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TrainerName, Specialization, Phone</a:t>
            </a:r>
            <a:endParaRPr lang="en-US" sz="1100" dirty="0"/>
          </a:p>
        </p:txBody>
      </p:sp>
      <p:sp>
        <p:nvSpPr>
          <p:cNvPr id="2048" name="Text 17">
            <a:extLst>
              <a:ext uri="{FF2B5EF4-FFF2-40B4-BE49-F238E27FC236}">
                <a16:creationId xmlns:a16="http://schemas.microsoft.com/office/drawing/2014/main" id="{245C9A69-A95C-CB73-E1D8-006681A23EED}"/>
              </a:ext>
            </a:extLst>
          </p:cNvPr>
          <p:cNvSpPr/>
          <p:nvPr/>
        </p:nvSpPr>
        <p:spPr>
          <a:xfrm>
            <a:off x="808414" y="2644279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2053" name="Text 18">
            <a:extLst>
              <a:ext uri="{FF2B5EF4-FFF2-40B4-BE49-F238E27FC236}">
                <a16:creationId xmlns:a16="http://schemas.microsoft.com/office/drawing/2014/main" id="{774F9427-CF31-6891-4CE5-D60A0F3170E6}"/>
              </a:ext>
            </a:extLst>
          </p:cNvPr>
          <p:cNvSpPr/>
          <p:nvPr/>
        </p:nvSpPr>
        <p:spPr>
          <a:xfrm>
            <a:off x="2765653" y="2644279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Plan, StartDate, EndDate</a:t>
            </a:r>
            <a:endParaRPr lang="en-US" sz="1100" dirty="0"/>
          </a:p>
        </p:txBody>
      </p:sp>
      <p:sp>
        <p:nvSpPr>
          <p:cNvPr id="2057" name="Text 19">
            <a:extLst>
              <a:ext uri="{FF2B5EF4-FFF2-40B4-BE49-F238E27FC236}">
                <a16:creationId xmlns:a16="http://schemas.microsoft.com/office/drawing/2014/main" id="{AF3583BC-DC72-D5A3-E0AF-A85EF0D5A6F6}"/>
              </a:ext>
            </a:extLst>
          </p:cNvPr>
          <p:cNvSpPr/>
          <p:nvPr/>
        </p:nvSpPr>
        <p:spPr>
          <a:xfrm>
            <a:off x="808414" y="3021012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2061" name="Text 20">
            <a:extLst>
              <a:ext uri="{FF2B5EF4-FFF2-40B4-BE49-F238E27FC236}">
                <a16:creationId xmlns:a16="http://schemas.microsoft.com/office/drawing/2014/main" id="{E0B7FC49-EAE7-AFF2-5E55-48CADD45261C}"/>
              </a:ext>
            </a:extLst>
          </p:cNvPr>
          <p:cNvSpPr/>
          <p:nvPr/>
        </p:nvSpPr>
        <p:spPr>
          <a:xfrm>
            <a:off x="2765653" y="3021012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Amount, PaymentDate</a:t>
            </a:r>
            <a:endParaRPr lang="en-US" sz="1100" dirty="0"/>
          </a:p>
        </p:txBody>
      </p:sp>
      <p:sp>
        <p:nvSpPr>
          <p:cNvPr id="2065" name="Text 21">
            <a:extLst>
              <a:ext uri="{FF2B5EF4-FFF2-40B4-BE49-F238E27FC236}">
                <a16:creationId xmlns:a16="http://schemas.microsoft.com/office/drawing/2014/main" id="{CAD41095-ABCD-D2C3-B8F1-E727270C6F6E}"/>
              </a:ext>
            </a:extLst>
          </p:cNvPr>
          <p:cNvSpPr/>
          <p:nvPr/>
        </p:nvSpPr>
        <p:spPr>
          <a:xfrm>
            <a:off x="808414" y="3397746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069" name="Text 22">
            <a:extLst>
              <a:ext uri="{FF2B5EF4-FFF2-40B4-BE49-F238E27FC236}">
                <a16:creationId xmlns:a16="http://schemas.microsoft.com/office/drawing/2014/main" id="{15DA06CF-EFAD-449A-5BEA-E699658A391F}"/>
              </a:ext>
            </a:extLst>
          </p:cNvPr>
          <p:cNvSpPr/>
          <p:nvPr/>
        </p:nvSpPr>
        <p:spPr>
          <a:xfrm>
            <a:off x="2765653" y="3397746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AttendanceDate, CheckIn</a:t>
            </a:r>
            <a:endParaRPr lang="en-US" sz="1100" dirty="0"/>
          </a:p>
        </p:txBody>
      </p:sp>
      <p:sp>
        <p:nvSpPr>
          <p:cNvPr id="2073" name="Text 23">
            <a:extLst>
              <a:ext uri="{FF2B5EF4-FFF2-40B4-BE49-F238E27FC236}">
                <a16:creationId xmlns:a16="http://schemas.microsoft.com/office/drawing/2014/main" id="{F5635070-5C30-2864-D27B-8CD3145E16E1}"/>
              </a:ext>
            </a:extLst>
          </p:cNvPr>
          <p:cNvSpPr/>
          <p:nvPr/>
        </p:nvSpPr>
        <p:spPr>
          <a:xfrm>
            <a:off x="808414" y="3774480"/>
            <a:ext cx="227949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Workout</a:t>
            </a:r>
            <a:endParaRPr lang="en-US" sz="1100" dirty="0"/>
          </a:p>
        </p:txBody>
      </p:sp>
      <p:sp>
        <p:nvSpPr>
          <p:cNvPr id="2077" name="Text 24">
            <a:extLst>
              <a:ext uri="{FF2B5EF4-FFF2-40B4-BE49-F238E27FC236}">
                <a16:creationId xmlns:a16="http://schemas.microsoft.com/office/drawing/2014/main" id="{29A167FC-7F38-89E9-2865-A17180F4DC23}"/>
              </a:ext>
            </a:extLst>
          </p:cNvPr>
          <p:cNvSpPr/>
          <p:nvPr/>
        </p:nvSpPr>
        <p:spPr>
          <a:xfrm>
            <a:off x="2765653" y="3774480"/>
            <a:ext cx="922731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WorkoutID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WorkoutType, Duration</a:t>
            </a:r>
            <a:endParaRPr lang="en-US" sz="1100" dirty="0"/>
          </a:p>
        </p:txBody>
      </p:sp>
      <p:sp>
        <p:nvSpPr>
          <p:cNvPr id="2081" name="Text 25">
            <a:extLst>
              <a:ext uri="{FF2B5EF4-FFF2-40B4-BE49-F238E27FC236}">
                <a16:creationId xmlns:a16="http://schemas.microsoft.com/office/drawing/2014/main" id="{BA56B545-40BF-9149-5E0C-B46272DD66CE}"/>
              </a:ext>
            </a:extLst>
          </p:cNvPr>
          <p:cNvSpPr/>
          <p:nvPr/>
        </p:nvSpPr>
        <p:spPr>
          <a:xfrm>
            <a:off x="661475" y="4252416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Attribute Types</a:t>
            </a:r>
            <a:endParaRPr lang="en-US" sz="1350" dirty="0"/>
          </a:p>
        </p:txBody>
      </p:sp>
      <p:pic>
        <p:nvPicPr>
          <p:cNvPr id="2083" name="Image 0" descr="preencoded.png">
            <a:extLst>
              <a:ext uri="{FF2B5EF4-FFF2-40B4-BE49-F238E27FC236}">
                <a16:creationId xmlns:a16="http://schemas.microsoft.com/office/drawing/2014/main" id="{9B130B0B-4B51-839D-2BA4-BB887B99E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51177"/>
            <a:ext cx="3543211" cy="1650603"/>
          </a:xfrm>
          <a:prstGeom prst="rect">
            <a:avLst/>
          </a:prstGeom>
        </p:spPr>
      </p:pic>
      <p:sp>
        <p:nvSpPr>
          <p:cNvPr id="2086" name="Text 26">
            <a:extLst>
              <a:ext uri="{FF2B5EF4-FFF2-40B4-BE49-F238E27FC236}">
                <a16:creationId xmlns:a16="http://schemas.microsoft.com/office/drawing/2014/main" id="{53D410F6-A3B3-785D-1CAE-36FF5BC97177}"/>
              </a:ext>
            </a:extLst>
          </p:cNvPr>
          <p:cNvSpPr/>
          <p:nvPr/>
        </p:nvSpPr>
        <p:spPr>
          <a:xfrm>
            <a:off x="897213" y="4810720"/>
            <a:ext cx="314793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Composite Attribute</a:t>
            </a:r>
            <a:endParaRPr lang="en-US" sz="1350" dirty="0"/>
          </a:p>
        </p:txBody>
      </p:sp>
      <p:sp>
        <p:nvSpPr>
          <p:cNvPr id="2088" name="Text 27">
            <a:extLst>
              <a:ext uri="{FF2B5EF4-FFF2-40B4-BE49-F238E27FC236}">
                <a16:creationId xmlns:a16="http://schemas.microsoft.com/office/drawing/2014/main" id="{CF7758D0-87A0-497A-3ABC-7F0FBDD016E4}"/>
              </a:ext>
            </a:extLst>
          </p:cNvPr>
          <p:cNvSpPr/>
          <p:nvPr/>
        </p:nvSpPr>
        <p:spPr>
          <a:xfrm>
            <a:off x="897213" y="5101927"/>
            <a:ext cx="3147934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Name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FirstName + LastName. A composite attribute is one that can be subdivided into smaller sub-parts, each representing a more basic attribute with its own independent meaning.</a:t>
            </a:r>
            <a:endParaRPr lang="en-US" sz="1100" dirty="0"/>
          </a:p>
        </p:txBody>
      </p:sp>
      <p:pic>
        <p:nvPicPr>
          <p:cNvPr id="2090" name="Image 1" descr="preencoded.png">
            <a:extLst>
              <a:ext uri="{FF2B5EF4-FFF2-40B4-BE49-F238E27FC236}">
                <a16:creationId xmlns:a16="http://schemas.microsoft.com/office/drawing/2014/main" id="{821EDD8D-E892-FA31-E2A7-9D817D4CD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4143" y="4651177"/>
            <a:ext cx="3543311" cy="1650603"/>
          </a:xfrm>
          <a:prstGeom prst="rect">
            <a:avLst/>
          </a:prstGeom>
        </p:spPr>
      </p:pic>
      <p:sp>
        <p:nvSpPr>
          <p:cNvPr id="2092" name="Text 28">
            <a:extLst>
              <a:ext uri="{FF2B5EF4-FFF2-40B4-BE49-F238E27FC236}">
                <a16:creationId xmlns:a16="http://schemas.microsoft.com/office/drawing/2014/main" id="{421F6669-D868-9F4C-6516-7142330C2C61}"/>
              </a:ext>
            </a:extLst>
          </p:cNvPr>
          <p:cNvSpPr/>
          <p:nvPr/>
        </p:nvSpPr>
        <p:spPr>
          <a:xfrm>
            <a:off x="4559880" y="4810720"/>
            <a:ext cx="31480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Multi-valued Attribute</a:t>
            </a:r>
            <a:endParaRPr lang="en-US" sz="1350" dirty="0"/>
          </a:p>
        </p:txBody>
      </p:sp>
      <p:sp>
        <p:nvSpPr>
          <p:cNvPr id="2094" name="Text 29">
            <a:extLst>
              <a:ext uri="{FF2B5EF4-FFF2-40B4-BE49-F238E27FC236}">
                <a16:creationId xmlns:a16="http://schemas.microsoft.com/office/drawing/2014/main" id="{BFB9012D-615A-4416-2A13-28E5045E703F}"/>
              </a:ext>
            </a:extLst>
          </p:cNvPr>
          <p:cNvSpPr/>
          <p:nvPr/>
        </p:nvSpPr>
        <p:spPr>
          <a:xfrm>
            <a:off x="4559880" y="5101927"/>
            <a:ext cx="3148033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Phone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 multi-valued attribute can hold more than one value for a single entity instance (e.g., multiple phone numbers per member).</a:t>
            </a:r>
            <a:endParaRPr lang="en-US" sz="1100" dirty="0"/>
          </a:p>
        </p:txBody>
      </p:sp>
      <p:pic>
        <p:nvPicPr>
          <p:cNvPr id="2096" name="Image 2" descr="preencoded.png">
            <a:extLst>
              <a:ext uri="{FF2B5EF4-FFF2-40B4-BE49-F238E27FC236}">
                <a16:creationId xmlns:a16="http://schemas.microsoft.com/office/drawing/2014/main" id="{A40F73EC-8E88-11C0-5220-97B5A8843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6910" y="4651177"/>
            <a:ext cx="3543311" cy="1650603"/>
          </a:xfrm>
          <a:prstGeom prst="rect">
            <a:avLst/>
          </a:prstGeom>
        </p:spPr>
      </p:pic>
      <p:sp>
        <p:nvSpPr>
          <p:cNvPr id="2098" name="Text 30">
            <a:extLst>
              <a:ext uri="{FF2B5EF4-FFF2-40B4-BE49-F238E27FC236}">
                <a16:creationId xmlns:a16="http://schemas.microsoft.com/office/drawing/2014/main" id="{A004E730-189F-5AF8-9A25-008283EFA684}"/>
              </a:ext>
            </a:extLst>
          </p:cNvPr>
          <p:cNvSpPr/>
          <p:nvPr/>
        </p:nvSpPr>
        <p:spPr>
          <a:xfrm>
            <a:off x="8222647" y="4810720"/>
            <a:ext cx="31480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Derived Attribute</a:t>
            </a:r>
            <a:endParaRPr lang="en-US" sz="1350" dirty="0"/>
          </a:p>
        </p:txBody>
      </p:sp>
      <p:sp>
        <p:nvSpPr>
          <p:cNvPr id="2100" name="Text 31">
            <a:extLst>
              <a:ext uri="{FF2B5EF4-FFF2-40B4-BE49-F238E27FC236}">
                <a16:creationId xmlns:a16="http://schemas.microsoft.com/office/drawing/2014/main" id="{F7566697-DA86-E8EE-18EB-97EF08602083}"/>
              </a:ext>
            </a:extLst>
          </p:cNvPr>
          <p:cNvSpPr/>
          <p:nvPr/>
        </p:nvSpPr>
        <p:spPr>
          <a:xfrm>
            <a:off x="8222647" y="5101927"/>
            <a:ext cx="3148033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Calculated from JoinDate or Date of Birth. A derived attribute's value is not stored directly but computed from other stored attributes.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25271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EDAF-5690-1890-0DC6-81087BC5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9B6B016-80EE-0F9E-52DD-1A17FCAB3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2E937BB-77E4-B0EF-BE08-55D1E296096F}"/>
              </a:ext>
            </a:extLst>
          </p:cNvPr>
          <p:cNvGrpSpPr/>
          <p:nvPr/>
        </p:nvGrpSpPr>
        <p:grpSpPr>
          <a:xfrm>
            <a:off x="2928035" y="136524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49EFE4-C7C5-16F5-45B2-705FDBBFFBF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5F11F8D-B3E8-286F-F929-3DFECFD336D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CFAC0D25-6F95-657B-1D1D-E09BB1DDBC3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4C68D-3CB5-EC19-7DDF-7C9D1C7E3CCE}"/>
                </a:ext>
              </a:extLst>
            </p:cNvPr>
            <p:cNvSpPr/>
            <p:nvPr/>
          </p:nvSpPr>
          <p:spPr>
            <a:xfrm>
              <a:off x="13225986" y="1509574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ENTITY JUSTIFICATION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0C06397F-5DAB-85FE-62E8-31D6936E2CB0}"/>
              </a:ext>
            </a:extLst>
          </p:cNvPr>
          <p:cNvSpPr/>
          <p:nvPr/>
        </p:nvSpPr>
        <p:spPr>
          <a:xfrm>
            <a:off x="661475" y="1545828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database is structured around </a:t>
            </a:r>
            <a:r>
              <a:rPr lang="en-US" sz="14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6 core entities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each representing a distinct real-world object or operational activity within the gym. Together, they eliminate redundancy and ensure all relevant data is captured, organized, and retrievable.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A948072-1E94-9C99-2060-AA4DB16A226B}"/>
              </a:ext>
            </a:extLst>
          </p:cNvPr>
          <p:cNvSpPr/>
          <p:nvPr/>
        </p:nvSpPr>
        <p:spPr>
          <a:xfrm>
            <a:off x="452169" y="2512044"/>
            <a:ext cx="10868745" cy="3505200"/>
          </a:xfrm>
          <a:prstGeom prst="roundRect">
            <a:avLst>
              <a:gd name="adj" fmla="val 56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C6F2425-03C1-B9C9-BDE6-A5947DAFD68C}"/>
              </a:ext>
            </a:extLst>
          </p:cNvPr>
          <p:cNvSpPr/>
          <p:nvPr/>
        </p:nvSpPr>
        <p:spPr>
          <a:xfrm>
            <a:off x="452169" y="285176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2F0A85BC-836C-3EF4-2373-5D2BCA44AE80}"/>
              </a:ext>
            </a:extLst>
          </p:cNvPr>
          <p:cNvSpPr/>
          <p:nvPr/>
        </p:nvSpPr>
        <p:spPr>
          <a:xfrm>
            <a:off x="452169" y="33788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7C1489F2-2552-EE91-E8F9-91B29DD52183}"/>
              </a:ext>
            </a:extLst>
          </p:cNvPr>
          <p:cNvSpPr/>
          <p:nvPr/>
        </p:nvSpPr>
        <p:spPr>
          <a:xfrm>
            <a:off x="452169" y="390586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9FD21122-086C-A14B-2AFB-BFE1C6C5C041}"/>
              </a:ext>
            </a:extLst>
          </p:cNvPr>
          <p:cNvSpPr/>
          <p:nvPr/>
        </p:nvSpPr>
        <p:spPr>
          <a:xfrm>
            <a:off x="452169" y="44329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103C3412-4530-C7C9-DCBD-2892731F8B8D}"/>
              </a:ext>
            </a:extLst>
          </p:cNvPr>
          <p:cNvSpPr/>
          <p:nvPr/>
        </p:nvSpPr>
        <p:spPr>
          <a:xfrm>
            <a:off x="452169" y="495996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F30BD573-5695-A004-A9EA-86E1C3A288BC}"/>
              </a:ext>
            </a:extLst>
          </p:cNvPr>
          <p:cNvSpPr/>
          <p:nvPr/>
        </p:nvSpPr>
        <p:spPr>
          <a:xfrm>
            <a:off x="452169" y="54870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C33472BA-0592-B144-E591-F2802685601F}"/>
              </a:ext>
            </a:extLst>
          </p:cNvPr>
          <p:cNvSpPr/>
          <p:nvPr/>
        </p:nvSpPr>
        <p:spPr>
          <a:xfrm>
            <a:off x="458618" y="2518394"/>
            <a:ext cx="1954064" cy="333375"/>
          </a:xfrm>
          <a:custGeom>
            <a:avLst/>
            <a:gdLst/>
            <a:ahLst/>
            <a:cxnLst/>
            <a:rect l="l" t="t" r="r" b="b"/>
            <a:pathLst>
              <a:path w="1954064" h="333375">
                <a:moveTo>
                  <a:pt x="16539" y="0"/>
                </a:moveTo>
                <a:lnTo>
                  <a:pt x="1954064" y="0"/>
                </a:lnTo>
                <a:lnTo>
                  <a:pt x="1954064" y="333375"/>
                </a:lnTo>
                <a:lnTo>
                  <a:pt x="0" y="333375"/>
                </a:lnTo>
                <a:lnTo>
                  <a:pt x="0" y="16540"/>
                </a:lnTo>
                <a:arcTo wR="16539" hR="16540" stAng="10800000" swAng="5400000"/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13D500BC-DDDA-0C8C-C393-416F7563E899}"/>
              </a:ext>
            </a:extLst>
          </p:cNvPr>
          <p:cNvSpPr/>
          <p:nvPr/>
        </p:nvSpPr>
        <p:spPr>
          <a:xfrm>
            <a:off x="590873" y="258824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Entity</a:t>
            </a:r>
            <a:endParaRPr lang="en-US" sz="10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16649A04-B344-E4A0-DFF8-4B1844E41F6A}"/>
              </a:ext>
            </a:extLst>
          </p:cNvPr>
          <p:cNvSpPr/>
          <p:nvPr/>
        </p:nvSpPr>
        <p:spPr>
          <a:xfrm>
            <a:off x="2412682" y="2518394"/>
            <a:ext cx="2171150" cy="3333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56E71487-8D6E-40FC-26C1-ACD02FBAC34D}"/>
              </a:ext>
            </a:extLst>
          </p:cNvPr>
          <p:cNvSpPr/>
          <p:nvPr/>
        </p:nvSpPr>
        <p:spPr>
          <a:xfrm>
            <a:off x="2544938" y="258824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Real-World Object</a:t>
            </a:r>
            <a:endParaRPr lang="en-US" sz="10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4583F8C5-7B20-1FFB-DC18-9704F8C5F790}"/>
              </a:ext>
            </a:extLst>
          </p:cNvPr>
          <p:cNvSpPr/>
          <p:nvPr/>
        </p:nvSpPr>
        <p:spPr>
          <a:xfrm>
            <a:off x="4583832" y="2518394"/>
            <a:ext cx="6730732" cy="333375"/>
          </a:xfrm>
          <a:custGeom>
            <a:avLst/>
            <a:gdLst/>
            <a:ahLst/>
            <a:cxnLst/>
            <a:rect l="l" t="t" r="r" b="b"/>
            <a:pathLst>
              <a:path w="6730732" h="333375">
                <a:moveTo>
                  <a:pt x="0" y="0"/>
                </a:moveTo>
                <a:lnTo>
                  <a:pt x="6714193" y="0"/>
                </a:lnTo>
                <a:arcTo wR="16539" hR="16540" stAng="16200000" swAng="5400000"/>
                <a:lnTo>
                  <a:pt x="6730732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568C8B9D-E5CD-06F7-F7DD-3CB69FA0F6A5}"/>
              </a:ext>
            </a:extLst>
          </p:cNvPr>
          <p:cNvSpPr/>
          <p:nvPr/>
        </p:nvSpPr>
        <p:spPr>
          <a:xfrm>
            <a:off x="590873" y="292479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</a:t>
            </a:r>
            <a:endParaRPr lang="en-US" sz="1000" dirty="0"/>
          </a:p>
        </p:txBody>
      </p:sp>
      <p:sp>
        <p:nvSpPr>
          <p:cNvPr id="2048" name="Text 18">
            <a:extLst>
              <a:ext uri="{FF2B5EF4-FFF2-40B4-BE49-F238E27FC236}">
                <a16:creationId xmlns:a16="http://schemas.microsoft.com/office/drawing/2014/main" id="{3814753D-D4B4-991F-3D25-566BF95D9C5C}"/>
              </a:ext>
            </a:extLst>
          </p:cNvPr>
          <p:cNvSpPr/>
          <p:nvPr/>
        </p:nvSpPr>
        <p:spPr>
          <a:xfrm>
            <a:off x="2544938" y="292479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Gym Member</a:t>
            </a:r>
            <a:endParaRPr lang="en-US" sz="1000" dirty="0"/>
          </a:p>
        </p:txBody>
      </p:sp>
      <p:sp>
        <p:nvSpPr>
          <p:cNvPr id="2053" name="Text 19">
            <a:extLst>
              <a:ext uri="{FF2B5EF4-FFF2-40B4-BE49-F238E27FC236}">
                <a16:creationId xmlns:a16="http://schemas.microsoft.com/office/drawing/2014/main" id="{10E3B895-8D98-6BAB-D493-5B7BBC8C9A5F}"/>
              </a:ext>
            </a:extLst>
          </p:cNvPr>
          <p:cNvSpPr/>
          <p:nvPr/>
        </p:nvSpPr>
        <p:spPr>
          <a:xfrm>
            <a:off x="4716087" y="292479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Stores the personal and basic information of gym members — the central entity around which all other entities are linked.</a:t>
            </a:r>
            <a:endParaRPr lang="en-US" sz="1000" dirty="0"/>
          </a:p>
        </p:txBody>
      </p:sp>
      <p:sp>
        <p:nvSpPr>
          <p:cNvPr id="2057" name="Text 20">
            <a:extLst>
              <a:ext uri="{FF2B5EF4-FFF2-40B4-BE49-F238E27FC236}">
                <a16:creationId xmlns:a16="http://schemas.microsoft.com/office/drawing/2014/main" id="{620A5173-381E-41E6-3CA8-2FA6743A9723}"/>
              </a:ext>
            </a:extLst>
          </p:cNvPr>
          <p:cNvSpPr/>
          <p:nvPr/>
        </p:nvSpPr>
        <p:spPr>
          <a:xfrm>
            <a:off x="590873" y="345184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TRAINER</a:t>
            </a:r>
            <a:endParaRPr lang="en-US" sz="1000" dirty="0"/>
          </a:p>
        </p:txBody>
      </p:sp>
      <p:sp>
        <p:nvSpPr>
          <p:cNvPr id="2061" name="Text 21">
            <a:extLst>
              <a:ext uri="{FF2B5EF4-FFF2-40B4-BE49-F238E27FC236}">
                <a16:creationId xmlns:a16="http://schemas.microsoft.com/office/drawing/2014/main" id="{05C60E66-6127-C4E5-C744-64E6637DEA5F}"/>
              </a:ext>
            </a:extLst>
          </p:cNvPr>
          <p:cNvSpPr/>
          <p:nvPr/>
        </p:nvSpPr>
        <p:spPr>
          <a:xfrm>
            <a:off x="2544938" y="345184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Fitness Trainer</a:t>
            </a:r>
            <a:endParaRPr lang="en-US" sz="1000" dirty="0"/>
          </a:p>
        </p:txBody>
      </p:sp>
      <p:sp>
        <p:nvSpPr>
          <p:cNvPr id="2065" name="Text 22">
            <a:extLst>
              <a:ext uri="{FF2B5EF4-FFF2-40B4-BE49-F238E27FC236}">
                <a16:creationId xmlns:a16="http://schemas.microsoft.com/office/drawing/2014/main" id="{0F925791-CFC9-BB95-E6FE-5670C8CB2272}"/>
              </a:ext>
            </a:extLst>
          </p:cNvPr>
          <p:cNvSpPr/>
          <p:nvPr/>
        </p:nvSpPr>
        <p:spPr>
          <a:xfrm>
            <a:off x="4716087" y="345184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Stores trainer details and specialization information, enabling assignment of workouts and accountability for training activities.</a:t>
            </a:r>
            <a:endParaRPr lang="en-US" sz="1000" dirty="0"/>
          </a:p>
        </p:txBody>
      </p:sp>
      <p:sp>
        <p:nvSpPr>
          <p:cNvPr id="2069" name="Text 23">
            <a:extLst>
              <a:ext uri="{FF2B5EF4-FFF2-40B4-BE49-F238E27FC236}">
                <a16:creationId xmlns:a16="http://schemas.microsoft.com/office/drawing/2014/main" id="{26B3B1B0-16EB-5B63-4067-C5FF390E26A1}"/>
              </a:ext>
            </a:extLst>
          </p:cNvPr>
          <p:cNvSpPr/>
          <p:nvPr/>
        </p:nvSpPr>
        <p:spPr>
          <a:xfrm>
            <a:off x="590873" y="397889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MEMBERSHIP</a:t>
            </a:r>
            <a:endParaRPr lang="en-US" sz="1000" dirty="0"/>
          </a:p>
        </p:txBody>
      </p:sp>
      <p:sp>
        <p:nvSpPr>
          <p:cNvPr id="2073" name="Text 24">
            <a:extLst>
              <a:ext uri="{FF2B5EF4-FFF2-40B4-BE49-F238E27FC236}">
                <a16:creationId xmlns:a16="http://schemas.microsoft.com/office/drawing/2014/main" id="{22F52852-2F7F-67CA-6CAF-56ACD55CDED6}"/>
              </a:ext>
            </a:extLst>
          </p:cNvPr>
          <p:cNvSpPr/>
          <p:nvPr/>
        </p:nvSpPr>
        <p:spPr>
          <a:xfrm>
            <a:off x="2544938" y="397889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Membership Plan</a:t>
            </a:r>
            <a:endParaRPr lang="en-US" sz="1000" dirty="0"/>
          </a:p>
        </p:txBody>
      </p:sp>
      <p:sp>
        <p:nvSpPr>
          <p:cNvPr id="2077" name="Text 25">
            <a:extLst>
              <a:ext uri="{FF2B5EF4-FFF2-40B4-BE49-F238E27FC236}">
                <a16:creationId xmlns:a16="http://schemas.microsoft.com/office/drawing/2014/main" id="{37BBB1BD-D72C-BF46-9C99-67B9E68D449C}"/>
              </a:ext>
            </a:extLst>
          </p:cNvPr>
          <p:cNvSpPr/>
          <p:nvPr/>
        </p:nvSpPr>
        <p:spPr>
          <a:xfrm>
            <a:off x="4716087" y="397889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Stores the membership plan type and validity details associated with each member, supporting subscription lifecycle management.</a:t>
            </a:r>
            <a:endParaRPr lang="en-US" sz="1000" dirty="0"/>
          </a:p>
        </p:txBody>
      </p:sp>
      <p:sp>
        <p:nvSpPr>
          <p:cNvPr id="2081" name="Text 26">
            <a:extLst>
              <a:ext uri="{FF2B5EF4-FFF2-40B4-BE49-F238E27FC236}">
                <a16:creationId xmlns:a16="http://schemas.microsoft.com/office/drawing/2014/main" id="{D51ED8F0-1419-F17F-9927-4A55530250B4}"/>
              </a:ext>
            </a:extLst>
          </p:cNvPr>
          <p:cNvSpPr/>
          <p:nvPr/>
        </p:nvSpPr>
        <p:spPr>
          <a:xfrm>
            <a:off x="590873" y="450594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PAYMENT</a:t>
            </a:r>
            <a:endParaRPr lang="en-US" sz="1000" dirty="0"/>
          </a:p>
        </p:txBody>
      </p:sp>
      <p:sp>
        <p:nvSpPr>
          <p:cNvPr id="2083" name="Text 27">
            <a:extLst>
              <a:ext uri="{FF2B5EF4-FFF2-40B4-BE49-F238E27FC236}">
                <a16:creationId xmlns:a16="http://schemas.microsoft.com/office/drawing/2014/main" id="{79E2B099-4766-C6EC-B33D-9C52E8C43600}"/>
              </a:ext>
            </a:extLst>
          </p:cNvPr>
          <p:cNvSpPr/>
          <p:nvPr/>
        </p:nvSpPr>
        <p:spPr>
          <a:xfrm>
            <a:off x="2544938" y="450594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Transaction</a:t>
            </a:r>
            <a:endParaRPr lang="en-US" sz="1000" dirty="0"/>
          </a:p>
        </p:txBody>
      </p:sp>
      <p:sp>
        <p:nvSpPr>
          <p:cNvPr id="2086" name="Text 28">
            <a:extLst>
              <a:ext uri="{FF2B5EF4-FFF2-40B4-BE49-F238E27FC236}">
                <a16:creationId xmlns:a16="http://schemas.microsoft.com/office/drawing/2014/main" id="{5E7B8AB8-0050-8AE0-5171-7FC22FE68260}"/>
              </a:ext>
            </a:extLst>
          </p:cNvPr>
          <p:cNvSpPr/>
          <p:nvPr/>
        </p:nvSpPr>
        <p:spPr>
          <a:xfrm>
            <a:off x="4716087" y="450594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Records all payment transactions made by members, providing a structured financial audit trail within the system.</a:t>
            </a:r>
            <a:endParaRPr lang="en-US" sz="1000" dirty="0"/>
          </a:p>
        </p:txBody>
      </p:sp>
      <p:sp>
        <p:nvSpPr>
          <p:cNvPr id="2088" name="Text 29">
            <a:extLst>
              <a:ext uri="{FF2B5EF4-FFF2-40B4-BE49-F238E27FC236}">
                <a16:creationId xmlns:a16="http://schemas.microsoft.com/office/drawing/2014/main" id="{05E1CC98-7630-2983-3BBB-9BE17872B59E}"/>
              </a:ext>
            </a:extLst>
          </p:cNvPr>
          <p:cNvSpPr/>
          <p:nvPr/>
        </p:nvSpPr>
        <p:spPr>
          <a:xfrm>
            <a:off x="590873" y="503299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090" name="Text 30">
            <a:extLst>
              <a:ext uri="{FF2B5EF4-FFF2-40B4-BE49-F238E27FC236}">
                <a16:creationId xmlns:a16="http://schemas.microsoft.com/office/drawing/2014/main" id="{67A35605-5E31-06E1-5CDD-6FBAD39C0DE0}"/>
              </a:ext>
            </a:extLst>
          </p:cNvPr>
          <p:cNvSpPr/>
          <p:nvPr/>
        </p:nvSpPr>
        <p:spPr>
          <a:xfrm>
            <a:off x="2544938" y="503299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Daily Check-In</a:t>
            </a:r>
            <a:endParaRPr lang="en-US" sz="1000" dirty="0"/>
          </a:p>
        </p:txBody>
      </p:sp>
      <p:sp>
        <p:nvSpPr>
          <p:cNvPr id="2092" name="Text 31">
            <a:extLst>
              <a:ext uri="{FF2B5EF4-FFF2-40B4-BE49-F238E27FC236}">
                <a16:creationId xmlns:a16="http://schemas.microsoft.com/office/drawing/2014/main" id="{4D652C88-C257-8144-7269-7332CDFD9DAE}"/>
              </a:ext>
            </a:extLst>
          </p:cNvPr>
          <p:cNvSpPr/>
          <p:nvPr/>
        </p:nvSpPr>
        <p:spPr>
          <a:xfrm>
            <a:off x="4716087" y="503299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Maintains the daily attendance and check-in history of members, enabling usage pattern analysis and access control.</a:t>
            </a:r>
            <a:endParaRPr lang="en-US" sz="1000" dirty="0"/>
          </a:p>
        </p:txBody>
      </p:sp>
      <p:sp>
        <p:nvSpPr>
          <p:cNvPr id="2094" name="Text 32">
            <a:extLst>
              <a:ext uri="{FF2B5EF4-FFF2-40B4-BE49-F238E27FC236}">
                <a16:creationId xmlns:a16="http://schemas.microsoft.com/office/drawing/2014/main" id="{F8DE9DBF-D146-0632-2D3A-9DA8BFB61CB8}"/>
              </a:ext>
            </a:extLst>
          </p:cNvPr>
          <p:cNvSpPr/>
          <p:nvPr/>
        </p:nvSpPr>
        <p:spPr>
          <a:xfrm>
            <a:off x="590873" y="5560044"/>
            <a:ext cx="2299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WORKOUT</a:t>
            </a:r>
            <a:endParaRPr lang="en-US" sz="1000" dirty="0"/>
          </a:p>
        </p:txBody>
      </p:sp>
      <p:sp>
        <p:nvSpPr>
          <p:cNvPr id="2096" name="Text 33">
            <a:extLst>
              <a:ext uri="{FF2B5EF4-FFF2-40B4-BE49-F238E27FC236}">
                <a16:creationId xmlns:a16="http://schemas.microsoft.com/office/drawing/2014/main" id="{9529CF9A-3275-173D-A5FE-91D57EE802E8}"/>
              </a:ext>
            </a:extLst>
          </p:cNvPr>
          <p:cNvSpPr/>
          <p:nvPr/>
        </p:nvSpPr>
        <p:spPr>
          <a:xfrm>
            <a:off x="2544938" y="5560044"/>
            <a:ext cx="2516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Workout Session</a:t>
            </a:r>
            <a:endParaRPr lang="en-US" sz="1000" dirty="0"/>
          </a:p>
        </p:txBody>
      </p:sp>
      <p:sp>
        <p:nvSpPr>
          <p:cNvPr id="2098" name="Text 34">
            <a:extLst>
              <a:ext uri="{FF2B5EF4-FFF2-40B4-BE49-F238E27FC236}">
                <a16:creationId xmlns:a16="http://schemas.microsoft.com/office/drawing/2014/main" id="{CF2E9902-9B07-7127-63D5-FD2F163B7B5B}"/>
              </a:ext>
            </a:extLst>
          </p:cNvPr>
          <p:cNvSpPr/>
          <p:nvPr/>
        </p:nvSpPr>
        <p:spPr>
          <a:xfrm>
            <a:off x="4716087" y="5560044"/>
            <a:ext cx="64662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Stores workout information associated with trainers, allowing structured scheduling and assignment of training sessions.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270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CC4A-537A-CF34-94BC-2964EDE8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F7C2CEB0-6E00-1A67-0DD0-7A88ACE21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173E33D-91C4-9CEF-8C2B-F9BF0E4486BD}"/>
              </a:ext>
            </a:extLst>
          </p:cNvPr>
          <p:cNvGrpSpPr/>
          <p:nvPr/>
        </p:nvGrpSpPr>
        <p:grpSpPr>
          <a:xfrm>
            <a:off x="2928035" y="136524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996C05-94A1-28B0-10D6-3C83F77A5F4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AAD3895-B0C0-87E1-95C6-37239DDD7B0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5A4BD35-B3A4-8AAD-81E9-02BFE3EE8B57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7C1EA2-B1F6-21B2-4118-3DAE51A2AEC8}"/>
                </a:ext>
              </a:extLst>
            </p:cNvPr>
            <p:cNvSpPr/>
            <p:nvPr/>
          </p:nvSpPr>
          <p:spPr>
            <a:xfrm>
              <a:off x="13225986" y="1509574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KEYS AND CONSTRAINTS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2359" name="Text 1">
            <a:extLst>
              <a:ext uri="{FF2B5EF4-FFF2-40B4-BE49-F238E27FC236}">
                <a16:creationId xmlns:a16="http://schemas.microsoft.com/office/drawing/2014/main" id="{524410EA-0EDF-C4AF-2EEE-3E0A3EB046E9}"/>
              </a:ext>
            </a:extLst>
          </p:cNvPr>
          <p:cNvSpPr/>
          <p:nvPr/>
        </p:nvSpPr>
        <p:spPr>
          <a:xfrm>
            <a:off x="934521" y="1260984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Keys and constraints maintain data accuracy, consistency, and referential integrity.</a:t>
            </a:r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360" name="Shape 2">
            <a:extLst>
              <a:ext uri="{FF2B5EF4-FFF2-40B4-BE49-F238E27FC236}">
                <a16:creationId xmlns:a16="http://schemas.microsoft.com/office/drawing/2014/main" id="{16B27796-24D1-E817-624D-F5D73A0A3334}"/>
              </a:ext>
            </a:extLst>
          </p:cNvPr>
          <p:cNvSpPr/>
          <p:nvPr/>
        </p:nvSpPr>
        <p:spPr>
          <a:xfrm>
            <a:off x="832655" y="2281191"/>
            <a:ext cx="786631" cy="178371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61" name="Text 3">
            <a:extLst>
              <a:ext uri="{FF2B5EF4-FFF2-40B4-BE49-F238E27FC236}">
                <a16:creationId xmlns:a16="http://schemas.microsoft.com/office/drawing/2014/main" id="{55FFEB0C-7A5A-A7DB-0FC3-A785B12BEB28}"/>
              </a:ext>
            </a:extLst>
          </p:cNvPr>
          <p:cNvSpPr/>
          <p:nvPr/>
        </p:nvSpPr>
        <p:spPr>
          <a:xfrm>
            <a:off x="903050" y="2316389"/>
            <a:ext cx="1103040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KEYS</a:t>
            </a:r>
            <a:endParaRPr lang="en-US" sz="700" dirty="0"/>
          </a:p>
        </p:txBody>
      </p:sp>
      <p:pic>
        <p:nvPicPr>
          <p:cNvPr id="2362" name="Image 0">
            <a:extLst>
              <a:ext uri="{FF2B5EF4-FFF2-40B4-BE49-F238E27FC236}">
                <a16:creationId xmlns:a16="http://schemas.microsoft.com/office/drawing/2014/main" id="{E43E11E8-9BB7-206F-85BA-2F668BC36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655" y="2568876"/>
            <a:ext cx="1917725" cy="715566"/>
          </a:xfrm>
          <a:prstGeom prst="rect">
            <a:avLst/>
          </a:prstGeom>
        </p:spPr>
      </p:pic>
      <p:sp>
        <p:nvSpPr>
          <p:cNvPr id="2363" name="Text 4">
            <a:extLst>
              <a:ext uri="{FF2B5EF4-FFF2-40B4-BE49-F238E27FC236}">
                <a16:creationId xmlns:a16="http://schemas.microsoft.com/office/drawing/2014/main" id="{753E73A5-12DA-614A-FE31-4AF60C6A8E1B}"/>
              </a:ext>
            </a:extLst>
          </p:cNvPr>
          <p:cNvSpPr/>
          <p:nvPr/>
        </p:nvSpPr>
        <p:spPr>
          <a:xfrm>
            <a:off x="1021443" y="2700514"/>
            <a:ext cx="15972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MemberID</a:t>
            </a:r>
            <a:endParaRPr lang="en-US" sz="1150" dirty="0"/>
          </a:p>
        </p:txBody>
      </p:sp>
      <p:sp>
        <p:nvSpPr>
          <p:cNvPr id="2364" name="Text 5">
            <a:extLst>
              <a:ext uri="{FF2B5EF4-FFF2-40B4-BE49-F238E27FC236}">
                <a16:creationId xmlns:a16="http://schemas.microsoft.com/office/drawing/2014/main" id="{F620A702-16E5-9C82-6D43-A8DF69FE7CA1}"/>
              </a:ext>
            </a:extLst>
          </p:cNvPr>
          <p:cNvSpPr/>
          <p:nvPr/>
        </p:nvSpPr>
        <p:spPr>
          <a:xfrm>
            <a:off x="1021443" y="2981130"/>
            <a:ext cx="159729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</a:t>
            </a:r>
            <a:endParaRPr lang="en-US" sz="900" dirty="0"/>
          </a:p>
        </p:txBody>
      </p:sp>
      <p:pic>
        <p:nvPicPr>
          <p:cNvPr id="2365" name="Image 1">
            <a:extLst>
              <a:ext uri="{FF2B5EF4-FFF2-40B4-BE49-F238E27FC236}">
                <a16:creationId xmlns:a16="http://schemas.microsoft.com/office/drawing/2014/main" id="{50F5A700-2CD9-1971-E161-C4BFE293B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7564" y="2568876"/>
            <a:ext cx="1917799" cy="715566"/>
          </a:xfrm>
          <a:prstGeom prst="rect">
            <a:avLst/>
          </a:prstGeom>
        </p:spPr>
      </p:pic>
      <p:sp>
        <p:nvSpPr>
          <p:cNvPr id="2366" name="Text 6">
            <a:extLst>
              <a:ext uri="{FF2B5EF4-FFF2-40B4-BE49-F238E27FC236}">
                <a16:creationId xmlns:a16="http://schemas.microsoft.com/office/drawing/2014/main" id="{9132E256-6B26-5F2B-42D6-3E34D4C2ED30}"/>
              </a:ext>
            </a:extLst>
          </p:cNvPr>
          <p:cNvSpPr/>
          <p:nvPr/>
        </p:nvSpPr>
        <p:spPr>
          <a:xfrm>
            <a:off x="3036353" y="2700514"/>
            <a:ext cx="15973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TrainerID</a:t>
            </a:r>
            <a:endParaRPr lang="en-US" sz="1150" dirty="0"/>
          </a:p>
        </p:txBody>
      </p:sp>
      <p:sp>
        <p:nvSpPr>
          <p:cNvPr id="2367" name="Text 7">
            <a:extLst>
              <a:ext uri="{FF2B5EF4-FFF2-40B4-BE49-F238E27FC236}">
                <a16:creationId xmlns:a16="http://schemas.microsoft.com/office/drawing/2014/main" id="{13AFE5BF-09B2-DF1F-FE7A-E589121F63CE}"/>
              </a:ext>
            </a:extLst>
          </p:cNvPr>
          <p:cNvSpPr/>
          <p:nvPr/>
        </p:nvSpPr>
        <p:spPr>
          <a:xfrm>
            <a:off x="3036353" y="2981130"/>
            <a:ext cx="15973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Trainer</a:t>
            </a:r>
            <a:endParaRPr lang="en-US" sz="900" dirty="0"/>
          </a:p>
        </p:txBody>
      </p:sp>
      <p:pic>
        <p:nvPicPr>
          <p:cNvPr id="2368" name="Image 2">
            <a:extLst>
              <a:ext uri="{FF2B5EF4-FFF2-40B4-BE49-F238E27FC236}">
                <a16:creationId xmlns:a16="http://schemas.microsoft.com/office/drawing/2014/main" id="{FEAC9268-4533-99B8-6ADD-0C2A38306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655" y="3381626"/>
            <a:ext cx="1917725" cy="715566"/>
          </a:xfrm>
          <a:prstGeom prst="rect">
            <a:avLst/>
          </a:prstGeom>
        </p:spPr>
      </p:pic>
      <p:sp>
        <p:nvSpPr>
          <p:cNvPr id="2369" name="Text 8">
            <a:extLst>
              <a:ext uri="{FF2B5EF4-FFF2-40B4-BE49-F238E27FC236}">
                <a16:creationId xmlns:a16="http://schemas.microsoft.com/office/drawing/2014/main" id="{EAE77474-F0E8-0C1F-0D9A-58B45D1B97F5}"/>
              </a:ext>
            </a:extLst>
          </p:cNvPr>
          <p:cNvSpPr/>
          <p:nvPr/>
        </p:nvSpPr>
        <p:spPr>
          <a:xfrm>
            <a:off x="1021443" y="3513265"/>
            <a:ext cx="15972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MembershipID</a:t>
            </a:r>
            <a:endParaRPr lang="en-US" sz="1150" dirty="0"/>
          </a:p>
        </p:txBody>
      </p:sp>
      <p:sp>
        <p:nvSpPr>
          <p:cNvPr id="2370" name="Text 9">
            <a:extLst>
              <a:ext uri="{FF2B5EF4-FFF2-40B4-BE49-F238E27FC236}">
                <a16:creationId xmlns:a16="http://schemas.microsoft.com/office/drawing/2014/main" id="{80A6537D-B003-881E-E33C-C9B9B1FFE096}"/>
              </a:ext>
            </a:extLst>
          </p:cNvPr>
          <p:cNvSpPr/>
          <p:nvPr/>
        </p:nvSpPr>
        <p:spPr>
          <a:xfrm>
            <a:off x="1021443" y="3793880"/>
            <a:ext cx="159729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Membership</a:t>
            </a:r>
            <a:endParaRPr lang="en-US" sz="900" dirty="0"/>
          </a:p>
        </p:txBody>
      </p:sp>
      <p:pic>
        <p:nvPicPr>
          <p:cNvPr id="2371" name="Image 3">
            <a:extLst>
              <a:ext uri="{FF2B5EF4-FFF2-40B4-BE49-F238E27FC236}">
                <a16:creationId xmlns:a16="http://schemas.microsoft.com/office/drawing/2014/main" id="{13A341E7-7A56-5A21-235C-F3B72785D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7564" y="3381626"/>
            <a:ext cx="1917799" cy="715566"/>
          </a:xfrm>
          <a:prstGeom prst="rect">
            <a:avLst/>
          </a:prstGeom>
        </p:spPr>
      </p:pic>
      <p:sp>
        <p:nvSpPr>
          <p:cNvPr id="2372" name="Text 10">
            <a:extLst>
              <a:ext uri="{FF2B5EF4-FFF2-40B4-BE49-F238E27FC236}">
                <a16:creationId xmlns:a16="http://schemas.microsoft.com/office/drawing/2014/main" id="{74311510-6EAA-AA86-CF7C-1B991C82DD35}"/>
              </a:ext>
            </a:extLst>
          </p:cNvPr>
          <p:cNvSpPr/>
          <p:nvPr/>
        </p:nvSpPr>
        <p:spPr>
          <a:xfrm>
            <a:off x="3036353" y="3513265"/>
            <a:ext cx="15973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PaymentID</a:t>
            </a:r>
            <a:endParaRPr lang="en-US" sz="1150" dirty="0"/>
          </a:p>
        </p:txBody>
      </p:sp>
      <p:sp>
        <p:nvSpPr>
          <p:cNvPr id="2373" name="Text 11">
            <a:extLst>
              <a:ext uri="{FF2B5EF4-FFF2-40B4-BE49-F238E27FC236}">
                <a16:creationId xmlns:a16="http://schemas.microsoft.com/office/drawing/2014/main" id="{F73178FB-DBCD-3F78-D85C-8EDD2949D3A1}"/>
              </a:ext>
            </a:extLst>
          </p:cNvPr>
          <p:cNvSpPr/>
          <p:nvPr/>
        </p:nvSpPr>
        <p:spPr>
          <a:xfrm>
            <a:off x="3036353" y="3793880"/>
            <a:ext cx="15973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</a:t>
            </a:r>
            <a:endParaRPr lang="en-US" sz="900" dirty="0"/>
          </a:p>
        </p:txBody>
      </p:sp>
      <p:pic>
        <p:nvPicPr>
          <p:cNvPr id="2374" name="Image 4">
            <a:extLst>
              <a:ext uri="{FF2B5EF4-FFF2-40B4-BE49-F238E27FC236}">
                <a16:creationId xmlns:a16="http://schemas.microsoft.com/office/drawing/2014/main" id="{52F25E03-2276-E909-D6EB-6AB96ABAD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655" y="4194376"/>
            <a:ext cx="1917725" cy="715566"/>
          </a:xfrm>
          <a:prstGeom prst="rect">
            <a:avLst/>
          </a:prstGeom>
        </p:spPr>
      </p:pic>
      <p:sp>
        <p:nvSpPr>
          <p:cNvPr id="2375" name="Text 12">
            <a:extLst>
              <a:ext uri="{FF2B5EF4-FFF2-40B4-BE49-F238E27FC236}">
                <a16:creationId xmlns:a16="http://schemas.microsoft.com/office/drawing/2014/main" id="{2033BD85-45BB-A56E-E681-B794A0C1AA2D}"/>
              </a:ext>
            </a:extLst>
          </p:cNvPr>
          <p:cNvSpPr/>
          <p:nvPr/>
        </p:nvSpPr>
        <p:spPr>
          <a:xfrm>
            <a:off x="1021443" y="4326015"/>
            <a:ext cx="15972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AttendanceID</a:t>
            </a:r>
            <a:endParaRPr lang="en-US" sz="1150" dirty="0"/>
          </a:p>
        </p:txBody>
      </p:sp>
      <p:sp>
        <p:nvSpPr>
          <p:cNvPr id="2376" name="Text 13">
            <a:extLst>
              <a:ext uri="{FF2B5EF4-FFF2-40B4-BE49-F238E27FC236}">
                <a16:creationId xmlns:a16="http://schemas.microsoft.com/office/drawing/2014/main" id="{906C9674-0263-B522-46EE-9F51B0DBC0BD}"/>
              </a:ext>
            </a:extLst>
          </p:cNvPr>
          <p:cNvSpPr/>
          <p:nvPr/>
        </p:nvSpPr>
        <p:spPr>
          <a:xfrm>
            <a:off x="1021443" y="4606630"/>
            <a:ext cx="159729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</a:t>
            </a:r>
            <a:endParaRPr lang="en-US" sz="900" dirty="0"/>
          </a:p>
        </p:txBody>
      </p:sp>
      <p:pic>
        <p:nvPicPr>
          <p:cNvPr id="2377" name="Image 5">
            <a:extLst>
              <a:ext uri="{FF2B5EF4-FFF2-40B4-BE49-F238E27FC236}">
                <a16:creationId xmlns:a16="http://schemas.microsoft.com/office/drawing/2014/main" id="{3E77EB2E-EAC0-2D06-5F0E-8A2C8EE0F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7564" y="4194376"/>
            <a:ext cx="1917799" cy="715566"/>
          </a:xfrm>
          <a:prstGeom prst="rect">
            <a:avLst/>
          </a:prstGeom>
        </p:spPr>
      </p:pic>
      <p:sp>
        <p:nvSpPr>
          <p:cNvPr id="2378" name="Text 14">
            <a:extLst>
              <a:ext uri="{FF2B5EF4-FFF2-40B4-BE49-F238E27FC236}">
                <a16:creationId xmlns:a16="http://schemas.microsoft.com/office/drawing/2014/main" id="{6CB1E7D5-8DEB-452A-C9DD-4E6E02D397FA}"/>
              </a:ext>
            </a:extLst>
          </p:cNvPr>
          <p:cNvSpPr/>
          <p:nvPr/>
        </p:nvSpPr>
        <p:spPr>
          <a:xfrm>
            <a:off x="3036353" y="4326015"/>
            <a:ext cx="15973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WorkoutID</a:t>
            </a:r>
            <a:endParaRPr lang="en-US" sz="1150" dirty="0"/>
          </a:p>
        </p:txBody>
      </p:sp>
      <p:sp>
        <p:nvSpPr>
          <p:cNvPr id="2379" name="Text 15">
            <a:extLst>
              <a:ext uri="{FF2B5EF4-FFF2-40B4-BE49-F238E27FC236}">
                <a16:creationId xmlns:a16="http://schemas.microsoft.com/office/drawing/2014/main" id="{4F3F3DAB-BCF0-1B08-628E-C77F7DDA1412}"/>
              </a:ext>
            </a:extLst>
          </p:cNvPr>
          <p:cNvSpPr/>
          <p:nvPr/>
        </p:nvSpPr>
        <p:spPr>
          <a:xfrm>
            <a:off x="3036353" y="4606630"/>
            <a:ext cx="15973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Workout</a:t>
            </a:r>
            <a:endParaRPr lang="en-US" sz="900" dirty="0"/>
          </a:p>
        </p:txBody>
      </p:sp>
      <p:sp>
        <p:nvSpPr>
          <p:cNvPr id="2380" name="Shape 16">
            <a:extLst>
              <a:ext uri="{FF2B5EF4-FFF2-40B4-BE49-F238E27FC236}">
                <a16:creationId xmlns:a16="http://schemas.microsoft.com/office/drawing/2014/main" id="{E19C732F-A247-54E4-BA46-77E2971BCB3C}"/>
              </a:ext>
            </a:extLst>
          </p:cNvPr>
          <p:cNvSpPr/>
          <p:nvPr/>
        </p:nvSpPr>
        <p:spPr>
          <a:xfrm>
            <a:off x="6587256" y="2203279"/>
            <a:ext cx="772120" cy="178371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1" name="Text 17">
            <a:extLst>
              <a:ext uri="{FF2B5EF4-FFF2-40B4-BE49-F238E27FC236}">
                <a16:creationId xmlns:a16="http://schemas.microsoft.com/office/drawing/2014/main" id="{351754A4-8C15-F517-96DF-953A0318C99A}"/>
              </a:ext>
            </a:extLst>
          </p:cNvPr>
          <p:cNvSpPr/>
          <p:nvPr/>
        </p:nvSpPr>
        <p:spPr>
          <a:xfrm>
            <a:off x="6657652" y="2238477"/>
            <a:ext cx="1088529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FOREIGN KEYS</a:t>
            </a:r>
            <a:endParaRPr lang="en-US" sz="700" dirty="0"/>
          </a:p>
        </p:txBody>
      </p:sp>
      <p:pic>
        <p:nvPicPr>
          <p:cNvPr id="2382" name="Image 6">
            <a:extLst>
              <a:ext uri="{FF2B5EF4-FFF2-40B4-BE49-F238E27FC236}">
                <a16:creationId xmlns:a16="http://schemas.microsoft.com/office/drawing/2014/main" id="{5ADB8B84-8946-9F4F-579A-516777EAC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969" y="2476676"/>
            <a:ext cx="1919883" cy="376684"/>
          </a:xfrm>
          <a:prstGeom prst="rect">
            <a:avLst/>
          </a:prstGeom>
        </p:spPr>
      </p:pic>
      <p:sp>
        <p:nvSpPr>
          <p:cNvPr id="2383" name="Text 18">
            <a:extLst>
              <a:ext uri="{FF2B5EF4-FFF2-40B4-BE49-F238E27FC236}">
                <a16:creationId xmlns:a16="http://schemas.microsoft.com/office/drawing/2014/main" id="{9D040EB1-80E9-4A7D-7256-E4E1DB25689F}"/>
              </a:ext>
            </a:extLst>
          </p:cNvPr>
          <p:cNvSpPr/>
          <p:nvPr/>
        </p:nvSpPr>
        <p:spPr>
          <a:xfrm>
            <a:off x="6733182" y="2490964"/>
            <a:ext cx="1759669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Membership.MemberID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Member.MemberID</a:t>
            </a:r>
            <a:endParaRPr lang="en-US" sz="900" dirty="0"/>
          </a:p>
        </p:txBody>
      </p:sp>
      <p:pic>
        <p:nvPicPr>
          <p:cNvPr id="2384" name="Image 7">
            <a:extLst>
              <a:ext uri="{FF2B5EF4-FFF2-40B4-BE49-F238E27FC236}">
                <a16:creationId xmlns:a16="http://schemas.microsoft.com/office/drawing/2014/main" id="{B8F49F77-621E-8C21-6E34-67EF49E05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0082" y="2476676"/>
            <a:ext cx="1919883" cy="376684"/>
          </a:xfrm>
          <a:prstGeom prst="rect">
            <a:avLst/>
          </a:prstGeom>
        </p:spPr>
      </p:pic>
      <p:sp>
        <p:nvSpPr>
          <p:cNvPr id="2385" name="Text 19">
            <a:extLst>
              <a:ext uri="{FF2B5EF4-FFF2-40B4-BE49-F238E27FC236}">
                <a16:creationId xmlns:a16="http://schemas.microsoft.com/office/drawing/2014/main" id="{19B7039B-2B27-8F6F-15A2-A003EED1C1B8}"/>
              </a:ext>
            </a:extLst>
          </p:cNvPr>
          <p:cNvSpPr/>
          <p:nvPr/>
        </p:nvSpPr>
        <p:spPr>
          <a:xfrm>
            <a:off x="8760296" y="2490964"/>
            <a:ext cx="1759669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Payment.MemberID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Member.MemberID</a:t>
            </a:r>
            <a:endParaRPr lang="en-US" sz="900" dirty="0"/>
          </a:p>
        </p:txBody>
      </p:sp>
      <p:pic>
        <p:nvPicPr>
          <p:cNvPr id="2386" name="Image 8">
            <a:extLst>
              <a:ext uri="{FF2B5EF4-FFF2-40B4-BE49-F238E27FC236}">
                <a16:creationId xmlns:a16="http://schemas.microsoft.com/office/drawing/2014/main" id="{FF3695F8-42C4-4789-E8CF-536BDF1D4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969" y="3019229"/>
            <a:ext cx="1919883" cy="376684"/>
          </a:xfrm>
          <a:prstGeom prst="rect">
            <a:avLst/>
          </a:prstGeom>
        </p:spPr>
      </p:pic>
      <p:sp>
        <p:nvSpPr>
          <p:cNvPr id="2387" name="Text 20">
            <a:extLst>
              <a:ext uri="{FF2B5EF4-FFF2-40B4-BE49-F238E27FC236}">
                <a16:creationId xmlns:a16="http://schemas.microsoft.com/office/drawing/2014/main" id="{70F42E71-78CB-D653-65D1-EAFC37986A55}"/>
              </a:ext>
            </a:extLst>
          </p:cNvPr>
          <p:cNvSpPr/>
          <p:nvPr/>
        </p:nvSpPr>
        <p:spPr>
          <a:xfrm>
            <a:off x="6733182" y="3033517"/>
            <a:ext cx="1759669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Attendance.MemberID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Member.MemberID</a:t>
            </a:r>
            <a:endParaRPr lang="en-US" sz="900" dirty="0"/>
          </a:p>
        </p:txBody>
      </p:sp>
      <p:pic>
        <p:nvPicPr>
          <p:cNvPr id="2388" name="Image 9">
            <a:extLst>
              <a:ext uri="{FF2B5EF4-FFF2-40B4-BE49-F238E27FC236}">
                <a16:creationId xmlns:a16="http://schemas.microsoft.com/office/drawing/2014/main" id="{5073F3AB-04DA-C973-D6AF-78ED32AF9C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0082" y="3019229"/>
            <a:ext cx="1919883" cy="376684"/>
          </a:xfrm>
          <a:prstGeom prst="rect">
            <a:avLst/>
          </a:prstGeom>
        </p:spPr>
      </p:pic>
      <p:sp>
        <p:nvSpPr>
          <p:cNvPr id="2389" name="Text 21">
            <a:extLst>
              <a:ext uri="{FF2B5EF4-FFF2-40B4-BE49-F238E27FC236}">
                <a16:creationId xmlns:a16="http://schemas.microsoft.com/office/drawing/2014/main" id="{677B6222-E71A-8C3E-C098-CDF422BD91E0}"/>
              </a:ext>
            </a:extLst>
          </p:cNvPr>
          <p:cNvSpPr/>
          <p:nvPr/>
        </p:nvSpPr>
        <p:spPr>
          <a:xfrm>
            <a:off x="8760296" y="3033517"/>
            <a:ext cx="1759669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Workout.TrainerID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Trainer.TrainerID</a:t>
            </a:r>
            <a:endParaRPr lang="en-US" sz="900" dirty="0"/>
          </a:p>
        </p:txBody>
      </p:sp>
      <p:sp>
        <p:nvSpPr>
          <p:cNvPr id="2390" name="Shape 22">
            <a:extLst>
              <a:ext uri="{FF2B5EF4-FFF2-40B4-BE49-F238E27FC236}">
                <a16:creationId xmlns:a16="http://schemas.microsoft.com/office/drawing/2014/main" id="{E4A4926D-FC9C-838C-A69B-3C8ABE189966}"/>
              </a:ext>
            </a:extLst>
          </p:cNvPr>
          <p:cNvSpPr/>
          <p:nvPr/>
        </p:nvSpPr>
        <p:spPr>
          <a:xfrm>
            <a:off x="6587256" y="3490940"/>
            <a:ext cx="766762" cy="178371"/>
          </a:xfrm>
          <a:prstGeom prst="roundRect">
            <a:avLst>
              <a:gd name="adj" fmla="val 22115"/>
            </a:avLst>
          </a:prstGeom>
          <a:noFill/>
          <a:ln w="4763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1" name="Text 23">
            <a:extLst>
              <a:ext uri="{FF2B5EF4-FFF2-40B4-BE49-F238E27FC236}">
                <a16:creationId xmlns:a16="http://schemas.microsoft.com/office/drawing/2014/main" id="{EA4C8E57-0410-F404-5AF5-093D53004AFA}"/>
              </a:ext>
            </a:extLst>
          </p:cNvPr>
          <p:cNvSpPr/>
          <p:nvPr/>
        </p:nvSpPr>
        <p:spPr>
          <a:xfrm>
            <a:off x="6657652" y="3526138"/>
            <a:ext cx="1083171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CONSTRAINTS</a:t>
            </a:r>
            <a:endParaRPr lang="en-US" sz="700" dirty="0"/>
          </a:p>
        </p:txBody>
      </p:sp>
      <p:sp>
        <p:nvSpPr>
          <p:cNvPr id="2392" name="Shape 24">
            <a:extLst>
              <a:ext uri="{FF2B5EF4-FFF2-40B4-BE49-F238E27FC236}">
                <a16:creationId xmlns:a16="http://schemas.microsoft.com/office/drawing/2014/main" id="{1B55670B-DAAA-E7BD-3C88-6C92FFDD707C}"/>
              </a:ext>
            </a:extLst>
          </p:cNvPr>
          <p:cNvSpPr/>
          <p:nvPr/>
        </p:nvSpPr>
        <p:spPr>
          <a:xfrm>
            <a:off x="6587256" y="3778625"/>
            <a:ext cx="1917725" cy="696516"/>
          </a:xfrm>
          <a:prstGeom prst="roundRect">
            <a:avLst>
              <a:gd name="adj" fmla="val 70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3" name="Text 25">
            <a:extLst>
              <a:ext uri="{FF2B5EF4-FFF2-40B4-BE49-F238E27FC236}">
                <a16:creationId xmlns:a16="http://schemas.microsoft.com/office/drawing/2014/main" id="{4F8078CA-ABBA-008E-7CBF-C9DEF083B55B}"/>
              </a:ext>
            </a:extLst>
          </p:cNvPr>
          <p:cNvSpPr/>
          <p:nvPr/>
        </p:nvSpPr>
        <p:spPr>
          <a:xfrm>
            <a:off x="6709370" y="3900738"/>
            <a:ext cx="16734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2394" name="Text 26">
            <a:extLst>
              <a:ext uri="{FF2B5EF4-FFF2-40B4-BE49-F238E27FC236}">
                <a16:creationId xmlns:a16="http://schemas.microsoft.com/office/drawing/2014/main" id="{7551EFD8-91B0-817D-DB4A-2B0B8D63C190}"/>
              </a:ext>
            </a:extLst>
          </p:cNvPr>
          <p:cNvSpPr/>
          <p:nvPr/>
        </p:nvSpPr>
        <p:spPr>
          <a:xfrm>
            <a:off x="6709370" y="4181354"/>
            <a:ext cx="167349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Uniquely identifies each record.</a:t>
            </a:r>
            <a:endParaRPr lang="en-US" sz="900" dirty="0"/>
          </a:p>
        </p:txBody>
      </p:sp>
      <p:sp>
        <p:nvSpPr>
          <p:cNvPr id="2395" name="Shape 27">
            <a:extLst>
              <a:ext uri="{FF2B5EF4-FFF2-40B4-BE49-F238E27FC236}">
                <a16:creationId xmlns:a16="http://schemas.microsoft.com/office/drawing/2014/main" id="{EA15B67A-3D2B-C7F6-EB64-E8E6F3B81CD1}"/>
              </a:ext>
            </a:extLst>
          </p:cNvPr>
          <p:cNvSpPr/>
          <p:nvPr/>
        </p:nvSpPr>
        <p:spPr>
          <a:xfrm>
            <a:off x="8602166" y="3778625"/>
            <a:ext cx="1917799" cy="696516"/>
          </a:xfrm>
          <a:prstGeom prst="roundRect">
            <a:avLst>
              <a:gd name="adj" fmla="val 70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6" name="Text 28">
            <a:extLst>
              <a:ext uri="{FF2B5EF4-FFF2-40B4-BE49-F238E27FC236}">
                <a16:creationId xmlns:a16="http://schemas.microsoft.com/office/drawing/2014/main" id="{22693F5C-87BF-6E83-9204-F781D1DCAA42}"/>
              </a:ext>
            </a:extLst>
          </p:cNvPr>
          <p:cNvSpPr/>
          <p:nvPr/>
        </p:nvSpPr>
        <p:spPr>
          <a:xfrm>
            <a:off x="8724279" y="3900738"/>
            <a:ext cx="16735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2397" name="Text 29">
            <a:extLst>
              <a:ext uri="{FF2B5EF4-FFF2-40B4-BE49-F238E27FC236}">
                <a16:creationId xmlns:a16="http://schemas.microsoft.com/office/drawing/2014/main" id="{655AAE36-BFFC-65D2-5BD9-862A2C99258A}"/>
              </a:ext>
            </a:extLst>
          </p:cNvPr>
          <p:cNvSpPr/>
          <p:nvPr/>
        </p:nvSpPr>
        <p:spPr>
          <a:xfrm>
            <a:off x="8724279" y="4181354"/>
            <a:ext cx="16735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valid relationships.</a:t>
            </a:r>
            <a:endParaRPr lang="en-US" sz="900" dirty="0"/>
          </a:p>
        </p:txBody>
      </p:sp>
      <p:sp>
        <p:nvSpPr>
          <p:cNvPr id="2398" name="Shape 30">
            <a:extLst>
              <a:ext uri="{FF2B5EF4-FFF2-40B4-BE49-F238E27FC236}">
                <a16:creationId xmlns:a16="http://schemas.microsoft.com/office/drawing/2014/main" id="{550BC0E3-6846-13D5-6BCE-8510D1EDBE46}"/>
              </a:ext>
            </a:extLst>
          </p:cNvPr>
          <p:cNvSpPr/>
          <p:nvPr/>
        </p:nvSpPr>
        <p:spPr>
          <a:xfrm>
            <a:off x="6587256" y="4572325"/>
            <a:ext cx="1917725" cy="868189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9" name="Text 31">
            <a:extLst>
              <a:ext uri="{FF2B5EF4-FFF2-40B4-BE49-F238E27FC236}">
                <a16:creationId xmlns:a16="http://schemas.microsoft.com/office/drawing/2014/main" id="{54EBD569-7612-EAE8-0C98-3CE1EB5DBC89}"/>
              </a:ext>
            </a:extLst>
          </p:cNvPr>
          <p:cNvSpPr/>
          <p:nvPr/>
        </p:nvSpPr>
        <p:spPr>
          <a:xfrm>
            <a:off x="6709370" y="4694438"/>
            <a:ext cx="16734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UNIQUE</a:t>
            </a:r>
            <a:endParaRPr lang="en-US" sz="1150" dirty="0"/>
          </a:p>
        </p:txBody>
      </p:sp>
      <p:sp>
        <p:nvSpPr>
          <p:cNvPr id="2400" name="Text 32">
            <a:extLst>
              <a:ext uri="{FF2B5EF4-FFF2-40B4-BE49-F238E27FC236}">
                <a16:creationId xmlns:a16="http://schemas.microsoft.com/office/drawing/2014/main" id="{8A29FB19-0111-C847-8146-FB4094C0B831}"/>
              </a:ext>
            </a:extLst>
          </p:cNvPr>
          <p:cNvSpPr/>
          <p:nvPr/>
        </p:nvSpPr>
        <p:spPr>
          <a:xfrm>
            <a:off x="6709370" y="4975054"/>
            <a:ext cx="167349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duplicate values such as phone numbers.</a:t>
            </a:r>
            <a:endParaRPr lang="en-US" sz="900" dirty="0"/>
          </a:p>
        </p:txBody>
      </p:sp>
      <p:sp>
        <p:nvSpPr>
          <p:cNvPr id="2401" name="Shape 33">
            <a:extLst>
              <a:ext uri="{FF2B5EF4-FFF2-40B4-BE49-F238E27FC236}">
                <a16:creationId xmlns:a16="http://schemas.microsoft.com/office/drawing/2014/main" id="{4CB61F11-36F4-DD21-B094-1045456D8AC8}"/>
              </a:ext>
            </a:extLst>
          </p:cNvPr>
          <p:cNvSpPr/>
          <p:nvPr/>
        </p:nvSpPr>
        <p:spPr>
          <a:xfrm>
            <a:off x="8602166" y="4572325"/>
            <a:ext cx="1917799" cy="868189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2" name="Text 34">
            <a:extLst>
              <a:ext uri="{FF2B5EF4-FFF2-40B4-BE49-F238E27FC236}">
                <a16:creationId xmlns:a16="http://schemas.microsoft.com/office/drawing/2014/main" id="{4A99CA02-ED00-94A6-CFCE-A140640D0891}"/>
              </a:ext>
            </a:extLst>
          </p:cNvPr>
          <p:cNvSpPr/>
          <p:nvPr/>
        </p:nvSpPr>
        <p:spPr>
          <a:xfrm>
            <a:off x="8724279" y="4694438"/>
            <a:ext cx="16735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NULL</a:t>
            </a:r>
            <a:endParaRPr lang="en-US" sz="1150" dirty="0"/>
          </a:p>
        </p:txBody>
      </p:sp>
      <p:sp>
        <p:nvSpPr>
          <p:cNvPr id="2403" name="Text 35">
            <a:extLst>
              <a:ext uri="{FF2B5EF4-FFF2-40B4-BE49-F238E27FC236}">
                <a16:creationId xmlns:a16="http://schemas.microsoft.com/office/drawing/2014/main" id="{F3AF854B-1729-9B91-67F8-93537C965565}"/>
              </a:ext>
            </a:extLst>
          </p:cNvPr>
          <p:cNvSpPr/>
          <p:nvPr/>
        </p:nvSpPr>
        <p:spPr>
          <a:xfrm>
            <a:off x="8724279" y="4975054"/>
            <a:ext cx="167357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required fields are not empty.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21398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1A2F-344E-AFB5-DC50-1BD43C1C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EA2503F-3426-1C18-888B-2A4D0A8C7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7FFDBD5-3043-2A8A-F107-1A07EA4BED57}"/>
              </a:ext>
            </a:extLst>
          </p:cNvPr>
          <p:cNvGrpSpPr/>
          <p:nvPr/>
        </p:nvGrpSpPr>
        <p:grpSpPr>
          <a:xfrm>
            <a:off x="2975674" y="139649"/>
            <a:ext cx="6238861" cy="1235076"/>
            <a:chOff x="13052448" y="1412427"/>
            <a:chExt cx="623644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420305-B997-188F-1852-E91718673027}"/>
                </a:ext>
              </a:extLst>
            </p:cNvPr>
            <p:cNvGrpSpPr/>
            <p:nvPr/>
          </p:nvGrpSpPr>
          <p:grpSpPr>
            <a:xfrm>
              <a:off x="13052448" y="1412427"/>
              <a:ext cx="6141489" cy="1909355"/>
              <a:chOff x="4731778" y="722307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0E2EB17-F0F4-6C31-16C1-D7A3CAC2478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31778" y="722307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98FBB3B8-5E1B-896F-A92A-227BC38BB268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123091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7FB23E-D591-7551-F88D-11A1C9B625A0}"/>
                </a:ext>
              </a:extLst>
            </p:cNvPr>
            <p:cNvSpPr/>
            <p:nvPr/>
          </p:nvSpPr>
          <p:spPr>
            <a:xfrm>
              <a:off x="13653564" y="1630437"/>
              <a:ext cx="5635331" cy="7199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latin typeface="Book Antiqua"/>
                </a:rPr>
                <a:t>RELATIONSHIPS AND CARDINALITY</a:t>
              </a:r>
              <a:endParaRPr b="1" dirty="0">
                <a:latin typeface="Book Antiqua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88D8A6C8-3699-EC41-6430-1D45C79164CB}"/>
              </a:ext>
            </a:extLst>
          </p:cNvPr>
          <p:cNvSpPr/>
          <p:nvPr/>
        </p:nvSpPr>
        <p:spPr>
          <a:xfrm>
            <a:off x="661475" y="1581745"/>
            <a:ext cx="10868745" cy="2010966"/>
          </a:xfrm>
          <a:prstGeom prst="roundRect">
            <a:avLst>
              <a:gd name="adj" fmla="val 111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C9079E6-0B52-9E2E-9F0F-B0FA52BBF5B0}"/>
              </a:ext>
            </a:extLst>
          </p:cNvPr>
          <p:cNvSpPr/>
          <p:nvPr/>
        </p:nvSpPr>
        <p:spPr>
          <a:xfrm>
            <a:off x="667825" y="1588095"/>
            <a:ext cx="10856046" cy="3996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B47D21A-20AF-14D6-22B8-0969B479122D}"/>
              </a:ext>
            </a:extLst>
          </p:cNvPr>
          <p:cNvSpPr/>
          <p:nvPr/>
        </p:nvSpPr>
        <p:spPr>
          <a:xfrm>
            <a:off x="816748" y="1674813"/>
            <a:ext cx="334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Relationship</a:t>
            </a:r>
            <a:endParaRPr lang="en-US" sz="11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EAB48F8-BB89-0D74-9A44-7A413C1F1C3A}"/>
              </a:ext>
            </a:extLst>
          </p:cNvPr>
          <p:cNvSpPr/>
          <p:nvPr/>
        </p:nvSpPr>
        <p:spPr>
          <a:xfrm>
            <a:off x="3859612" y="1674813"/>
            <a:ext cx="225965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Cardinality</a:t>
            </a:r>
            <a:endParaRPr lang="en-US" sz="11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60155042-C6C3-980D-F29A-792605E932D3}"/>
              </a:ext>
            </a:extLst>
          </p:cNvPr>
          <p:cNvSpPr/>
          <p:nvPr/>
        </p:nvSpPr>
        <p:spPr>
          <a:xfrm>
            <a:off x="5813676" y="1674813"/>
            <a:ext cx="61709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92305DFB-4756-F1CB-0AB8-00A7B181B1AE}"/>
              </a:ext>
            </a:extLst>
          </p:cNvPr>
          <p:cNvSpPr/>
          <p:nvPr/>
        </p:nvSpPr>
        <p:spPr>
          <a:xfrm>
            <a:off x="667825" y="1987748"/>
            <a:ext cx="10856046" cy="3996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77FA5E43-98D9-CE77-97CC-50CA7685EBD6}"/>
              </a:ext>
            </a:extLst>
          </p:cNvPr>
          <p:cNvSpPr/>
          <p:nvPr/>
        </p:nvSpPr>
        <p:spPr>
          <a:xfrm>
            <a:off x="816748" y="2074466"/>
            <a:ext cx="334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→ Membership</a:t>
            </a:r>
            <a:endParaRPr lang="en-US" sz="115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3C8535F9-7A0B-F412-6B83-D0B0EEE6CE8C}"/>
              </a:ext>
            </a:extLst>
          </p:cNvPr>
          <p:cNvSpPr/>
          <p:nvPr/>
        </p:nvSpPr>
        <p:spPr>
          <a:xfrm>
            <a:off x="3859612" y="2074466"/>
            <a:ext cx="225965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115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56E21C61-A2F5-893D-C9E9-2F08E08B80FA}"/>
              </a:ext>
            </a:extLst>
          </p:cNvPr>
          <p:cNvSpPr/>
          <p:nvPr/>
        </p:nvSpPr>
        <p:spPr>
          <a:xfrm>
            <a:off x="5813676" y="2074466"/>
            <a:ext cx="61709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have multiple membership records over time</a:t>
            </a:r>
            <a:endParaRPr lang="en-US" sz="1150" dirty="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0C03C0E2-A963-68C0-1F7B-CE1978CB42A8}"/>
              </a:ext>
            </a:extLst>
          </p:cNvPr>
          <p:cNvSpPr/>
          <p:nvPr/>
        </p:nvSpPr>
        <p:spPr>
          <a:xfrm>
            <a:off x="667825" y="2387402"/>
            <a:ext cx="10856046" cy="3996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99FCE87A-289F-5713-B36C-80D874046A24}"/>
              </a:ext>
            </a:extLst>
          </p:cNvPr>
          <p:cNvSpPr/>
          <p:nvPr/>
        </p:nvSpPr>
        <p:spPr>
          <a:xfrm>
            <a:off x="816748" y="2474119"/>
            <a:ext cx="334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→ Payment</a:t>
            </a:r>
            <a:endParaRPr lang="en-US" sz="115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6AD0A318-99FB-8F07-CB0A-5B63A34973A2}"/>
              </a:ext>
            </a:extLst>
          </p:cNvPr>
          <p:cNvSpPr/>
          <p:nvPr/>
        </p:nvSpPr>
        <p:spPr>
          <a:xfrm>
            <a:off x="3859612" y="2474119"/>
            <a:ext cx="225965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115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88E6C575-2CBB-2687-1845-174BD2FD6C11}"/>
              </a:ext>
            </a:extLst>
          </p:cNvPr>
          <p:cNvSpPr/>
          <p:nvPr/>
        </p:nvSpPr>
        <p:spPr>
          <a:xfrm>
            <a:off x="5813676" y="2474119"/>
            <a:ext cx="61709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make multiple payment transactions</a:t>
            </a:r>
            <a:endParaRPr lang="en-US" sz="115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071E649-F469-5B2E-1466-953D4CA6EEB1}"/>
              </a:ext>
            </a:extLst>
          </p:cNvPr>
          <p:cNvSpPr/>
          <p:nvPr/>
        </p:nvSpPr>
        <p:spPr>
          <a:xfrm>
            <a:off x="667825" y="2787055"/>
            <a:ext cx="10856046" cy="3996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48" name="Text 17">
            <a:extLst>
              <a:ext uri="{FF2B5EF4-FFF2-40B4-BE49-F238E27FC236}">
                <a16:creationId xmlns:a16="http://schemas.microsoft.com/office/drawing/2014/main" id="{C3BE2E27-4C2F-2159-1455-DCBDA8033F6D}"/>
              </a:ext>
            </a:extLst>
          </p:cNvPr>
          <p:cNvSpPr/>
          <p:nvPr/>
        </p:nvSpPr>
        <p:spPr>
          <a:xfrm>
            <a:off x="816748" y="2873772"/>
            <a:ext cx="334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→ Attendance</a:t>
            </a:r>
            <a:endParaRPr lang="en-US" sz="1150" dirty="0"/>
          </a:p>
        </p:txBody>
      </p:sp>
      <p:sp>
        <p:nvSpPr>
          <p:cNvPr id="2053" name="Text 18">
            <a:extLst>
              <a:ext uri="{FF2B5EF4-FFF2-40B4-BE49-F238E27FC236}">
                <a16:creationId xmlns:a16="http://schemas.microsoft.com/office/drawing/2014/main" id="{3BDD8389-C67E-539D-9073-A73EA8BA1E2C}"/>
              </a:ext>
            </a:extLst>
          </p:cNvPr>
          <p:cNvSpPr/>
          <p:nvPr/>
        </p:nvSpPr>
        <p:spPr>
          <a:xfrm>
            <a:off x="3859612" y="2873772"/>
            <a:ext cx="225965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1150" dirty="0"/>
          </a:p>
        </p:txBody>
      </p:sp>
      <p:sp>
        <p:nvSpPr>
          <p:cNvPr id="2057" name="Text 19">
            <a:extLst>
              <a:ext uri="{FF2B5EF4-FFF2-40B4-BE49-F238E27FC236}">
                <a16:creationId xmlns:a16="http://schemas.microsoft.com/office/drawing/2014/main" id="{F6F6B0C8-5A58-5CD0-2C54-54DA1F10C745}"/>
              </a:ext>
            </a:extLst>
          </p:cNvPr>
          <p:cNvSpPr/>
          <p:nvPr/>
        </p:nvSpPr>
        <p:spPr>
          <a:xfrm>
            <a:off x="5813676" y="2873772"/>
            <a:ext cx="61709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have many daily attendance check-in records</a:t>
            </a:r>
            <a:endParaRPr lang="en-US" sz="1150" dirty="0"/>
          </a:p>
        </p:txBody>
      </p:sp>
      <p:sp>
        <p:nvSpPr>
          <p:cNvPr id="2061" name="Shape 20">
            <a:extLst>
              <a:ext uri="{FF2B5EF4-FFF2-40B4-BE49-F238E27FC236}">
                <a16:creationId xmlns:a16="http://schemas.microsoft.com/office/drawing/2014/main" id="{0470B252-4E08-BDE5-56C9-D910D11D9AA8}"/>
              </a:ext>
            </a:extLst>
          </p:cNvPr>
          <p:cNvSpPr/>
          <p:nvPr/>
        </p:nvSpPr>
        <p:spPr>
          <a:xfrm>
            <a:off x="667825" y="3186708"/>
            <a:ext cx="10856046" cy="3996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65" name="Text 21">
            <a:extLst>
              <a:ext uri="{FF2B5EF4-FFF2-40B4-BE49-F238E27FC236}">
                <a16:creationId xmlns:a16="http://schemas.microsoft.com/office/drawing/2014/main" id="{64E26701-6832-EFBB-DF78-D7BC7AE026E9}"/>
              </a:ext>
            </a:extLst>
          </p:cNvPr>
          <p:cNvSpPr/>
          <p:nvPr/>
        </p:nvSpPr>
        <p:spPr>
          <a:xfrm>
            <a:off x="816748" y="3273425"/>
            <a:ext cx="334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Trainer → Workout</a:t>
            </a:r>
            <a:endParaRPr lang="en-US" sz="1150" dirty="0"/>
          </a:p>
        </p:txBody>
      </p:sp>
      <p:sp>
        <p:nvSpPr>
          <p:cNvPr id="2069" name="Text 22">
            <a:extLst>
              <a:ext uri="{FF2B5EF4-FFF2-40B4-BE49-F238E27FC236}">
                <a16:creationId xmlns:a16="http://schemas.microsoft.com/office/drawing/2014/main" id="{77A58725-C311-3E72-BBF1-519CEADD3415}"/>
              </a:ext>
            </a:extLst>
          </p:cNvPr>
          <p:cNvSpPr/>
          <p:nvPr/>
        </p:nvSpPr>
        <p:spPr>
          <a:xfrm>
            <a:off x="3859612" y="3273425"/>
            <a:ext cx="225965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1150" dirty="0"/>
          </a:p>
        </p:txBody>
      </p:sp>
      <p:sp>
        <p:nvSpPr>
          <p:cNvPr id="2073" name="Text 23">
            <a:extLst>
              <a:ext uri="{FF2B5EF4-FFF2-40B4-BE49-F238E27FC236}">
                <a16:creationId xmlns:a16="http://schemas.microsoft.com/office/drawing/2014/main" id="{85D683F4-014F-2BB2-CAF7-EC84A933E4E4}"/>
              </a:ext>
            </a:extLst>
          </p:cNvPr>
          <p:cNvSpPr/>
          <p:nvPr/>
        </p:nvSpPr>
        <p:spPr>
          <a:xfrm>
            <a:off x="5813676" y="3273425"/>
            <a:ext cx="61709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trainer can manage and assign multiple workout records</a:t>
            </a:r>
            <a:endParaRPr lang="en-US" sz="1150" dirty="0"/>
          </a:p>
        </p:txBody>
      </p:sp>
      <p:sp>
        <p:nvSpPr>
          <p:cNvPr id="2077" name="Text 24">
            <a:extLst>
              <a:ext uri="{FF2B5EF4-FFF2-40B4-BE49-F238E27FC236}">
                <a16:creationId xmlns:a16="http://schemas.microsoft.com/office/drawing/2014/main" id="{7FE10460-0E8B-F0C0-6A08-5279059C545E}"/>
              </a:ext>
            </a:extLst>
          </p:cNvPr>
          <p:cNvSpPr/>
          <p:nvPr/>
        </p:nvSpPr>
        <p:spPr>
          <a:xfrm>
            <a:off x="661475" y="3793629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Cardinality Types — Reference</a:t>
            </a:r>
            <a:endParaRPr lang="en-US" sz="1450" dirty="0"/>
          </a:p>
        </p:txBody>
      </p:sp>
      <p:sp>
        <p:nvSpPr>
          <p:cNvPr id="2081" name="Shape 25">
            <a:extLst>
              <a:ext uri="{FF2B5EF4-FFF2-40B4-BE49-F238E27FC236}">
                <a16:creationId xmlns:a16="http://schemas.microsoft.com/office/drawing/2014/main" id="{37797EFB-8212-1827-ABE3-323DB8091303}"/>
              </a:ext>
            </a:extLst>
          </p:cNvPr>
          <p:cNvSpPr/>
          <p:nvPr/>
        </p:nvSpPr>
        <p:spPr>
          <a:xfrm>
            <a:off x="661475" y="4227016"/>
            <a:ext cx="3533587" cy="1289149"/>
          </a:xfrm>
          <a:prstGeom prst="roundRect">
            <a:avLst>
              <a:gd name="adj" fmla="val 1732"/>
            </a:avLst>
          </a:prstGeom>
          <a:solidFill>
            <a:srgbClr val="F0EDE6"/>
          </a:solidFill>
          <a:ln/>
        </p:spPr>
      </p:sp>
      <p:sp>
        <p:nvSpPr>
          <p:cNvPr id="2083" name="Text 26">
            <a:extLst>
              <a:ext uri="{FF2B5EF4-FFF2-40B4-BE49-F238E27FC236}">
                <a16:creationId xmlns:a16="http://schemas.microsoft.com/office/drawing/2014/main" id="{22E6BB21-BC99-9BEE-D4E1-8CE164303A6E}"/>
              </a:ext>
            </a:extLst>
          </p:cNvPr>
          <p:cNvSpPr/>
          <p:nvPr/>
        </p:nvSpPr>
        <p:spPr>
          <a:xfrm>
            <a:off x="810299" y="437584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 : 1 — One-to-One</a:t>
            </a:r>
            <a:endParaRPr lang="en-US" sz="1450" dirty="0"/>
          </a:p>
        </p:txBody>
      </p:sp>
      <p:sp>
        <p:nvSpPr>
          <p:cNvPr id="2086" name="Text 27">
            <a:extLst>
              <a:ext uri="{FF2B5EF4-FFF2-40B4-BE49-F238E27FC236}">
                <a16:creationId xmlns:a16="http://schemas.microsoft.com/office/drawing/2014/main" id="{EF8E0893-8909-8357-0125-12F0635E2C8F}"/>
              </a:ext>
            </a:extLst>
          </p:cNvPr>
          <p:cNvSpPr/>
          <p:nvPr/>
        </p:nvSpPr>
        <p:spPr>
          <a:xfrm>
            <a:off x="810299" y="4688681"/>
            <a:ext cx="323593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instance of entity A relates to exactly one instance of entity B. Rare in practice; used for optional extensions of a table.</a:t>
            </a:r>
            <a:endParaRPr lang="en-US" sz="1150" dirty="0"/>
          </a:p>
        </p:txBody>
      </p:sp>
      <p:sp>
        <p:nvSpPr>
          <p:cNvPr id="2088" name="Shape 28">
            <a:extLst>
              <a:ext uri="{FF2B5EF4-FFF2-40B4-BE49-F238E27FC236}">
                <a16:creationId xmlns:a16="http://schemas.microsoft.com/office/drawing/2014/main" id="{5295566A-F6FC-9D16-0191-B6C11B3DF583}"/>
              </a:ext>
            </a:extLst>
          </p:cNvPr>
          <p:cNvSpPr/>
          <p:nvPr/>
        </p:nvSpPr>
        <p:spPr>
          <a:xfrm>
            <a:off x="4329004" y="4227016"/>
            <a:ext cx="3533587" cy="1289149"/>
          </a:xfrm>
          <a:prstGeom prst="roundRect">
            <a:avLst>
              <a:gd name="adj" fmla="val 1732"/>
            </a:avLst>
          </a:prstGeom>
          <a:solidFill>
            <a:srgbClr val="F0EDE6"/>
          </a:solidFill>
          <a:ln/>
        </p:spPr>
      </p:sp>
      <p:sp>
        <p:nvSpPr>
          <p:cNvPr id="2090" name="Text 29">
            <a:extLst>
              <a:ext uri="{FF2B5EF4-FFF2-40B4-BE49-F238E27FC236}">
                <a16:creationId xmlns:a16="http://schemas.microsoft.com/office/drawing/2014/main" id="{969DFFB4-E048-EA5D-B0F3-3A19367718E9}"/>
              </a:ext>
            </a:extLst>
          </p:cNvPr>
          <p:cNvSpPr/>
          <p:nvPr/>
        </p:nvSpPr>
        <p:spPr>
          <a:xfrm>
            <a:off x="4477829" y="437584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 : M — One-to-Many</a:t>
            </a:r>
            <a:endParaRPr lang="en-US" sz="1450" dirty="0"/>
          </a:p>
        </p:txBody>
      </p:sp>
      <p:sp>
        <p:nvSpPr>
          <p:cNvPr id="2092" name="Text 30">
            <a:extLst>
              <a:ext uri="{FF2B5EF4-FFF2-40B4-BE49-F238E27FC236}">
                <a16:creationId xmlns:a16="http://schemas.microsoft.com/office/drawing/2014/main" id="{9C84D99B-E982-2EB5-FB36-B50E6914537A}"/>
              </a:ext>
            </a:extLst>
          </p:cNvPr>
          <p:cNvSpPr/>
          <p:nvPr/>
        </p:nvSpPr>
        <p:spPr>
          <a:xfrm>
            <a:off x="4477829" y="4688681"/>
            <a:ext cx="323593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instance of entity A relates to many instances of entity B. </a:t>
            </a: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Primary cardinality used in this project.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Enforced via foreign keys.</a:t>
            </a:r>
            <a:endParaRPr lang="en-US" sz="1150" dirty="0"/>
          </a:p>
        </p:txBody>
      </p:sp>
      <p:sp>
        <p:nvSpPr>
          <p:cNvPr id="2094" name="Shape 31">
            <a:extLst>
              <a:ext uri="{FF2B5EF4-FFF2-40B4-BE49-F238E27FC236}">
                <a16:creationId xmlns:a16="http://schemas.microsoft.com/office/drawing/2014/main" id="{7A5DBB66-C1D4-010C-1393-BF25E4E22F46}"/>
              </a:ext>
            </a:extLst>
          </p:cNvPr>
          <p:cNvSpPr/>
          <p:nvPr/>
        </p:nvSpPr>
        <p:spPr>
          <a:xfrm>
            <a:off x="7996534" y="4227016"/>
            <a:ext cx="3533587" cy="1289149"/>
          </a:xfrm>
          <a:prstGeom prst="roundRect">
            <a:avLst>
              <a:gd name="adj" fmla="val 1732"/>
            </a:avLst>
          </a:prstGeom>
          <a:solidFill>
            <a:srgbClr val="F0EDE6"/>
          </a:solidFill>
          <a:ln/>
        </p:spPr>
      </p:sp>
      <p:sp>
        <p:nvSpPr>
          <p:cNvPr id="2096" name="Text 32">
            <a:extLst>
              <a:ext uri="{FF2B5EF4-FFF2-40B4-BE49-F238E27FC236}">
                <a16:creationId xmlns:a16="http://schemas.microsoft.com/office/drawing/2014/main" id="{5AFC2738-4F55-6A3C-A49B-A3828AABDE5B}"/>
              </a:ext>
            </a:extLst>
          </p:cNvPr>
          <p:cNvSpPr/>
          <p:nvPr/>
        </p:nvSpPr>
        <p:spPr>
          <a:xfrm>
            <a:off x="8145358" y="437584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 : N — Many-to-Many</a:t>
            </a:r>
            <a:endParaRPr lang="en-US" sz="1450" dirty="0"/>
          </a:p>
        </p:txBody>
      </p:sp>
      <p:sp>
        <p:nvSpPr>
          <p:cNvPr id="2098" name="Text 33">
            <a:extLst>
              <a:ext uri="{FF2B5EF4-FFF2-40B4-BE49-F238E27FC236}">
                <a16:creationId xmlns:a16="http://schemas.microsoft.com/office/drawing/2014/main" id="{4BC83B0F-10CE-F520-582E-69BAB91EA18E}"/>
              </a:ext>
            </a:extLst>
          </p:cNvPr>
          <p:cNvSpPr/>
          <p:nvPr/>
        </p:nvSpPr>
        <p:spPr>
          <a:xfrm>
            <a:off x="8145358" y="4688681"/>
            <a:ext cx="323593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Many instances of entity A relate to many instances of entity B. Resolved using a junction/bridge table in relational design.</a:t>
            </a:r>
            <a:endParaRPr lang="en-US" sz="1150" dirty="0"/>
          </a:p>
        </p:txBody>
      </p:sp>
      <p:sp>
        <p:nvSpPr>
          <p:cNvPr id="2100" name="Shape 34">
            <a:extLst>
              <a:ext uri="{FF2B5EF4-FFF2-40B4-BE49-F238E27FC236}">
                <a16:creationId xmlns:a16="http://schemas.microsoft.com/office/drawing/2014/main" id="{9D922FC7-B464-A1B9-72B4-0DB8D8C41342}"/>
              </a:ext>
            </a:extLst>
          </p:cNvPr>
          <p:cNvSpPr/>
          <p:nvPr/>
        </p:nvSpPr>
        <p:spPr>
          <a:xfrm>
            <a:off x="661475" y="5666879"/>
            <a:ext cx="10868745" cy="555129"/>
          </a:xfrm>
          <a:prstGeom prst="roundRect">
            <a:avLst>
              <a:gd name="adj" fmla="val 4022"/>
            </a:avLst>
          </a:prstGeom>
          <a:solidFill>
            <a:srgbClr val="D7F4E4"/>
          </a:solidFill>
          <a:ln/>
        </p:spPr>
      </p:sp>
      <p:pic>
        <p:nvPicPr>
          <p:cNvPr id="2102" name="Image 0" descr="preencoded.png">
            <a:extLst>
              <a:ext uri="{FF2B5EF4-FFF2-40B4-BE49-F238E27FC236}">
                <a16:creationId xmlns:a16="http://schemas.microsoft.com/office/drawing/2014/main" id="{3B33A3D0-E51A-4351-5CD1-810930A6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9" y="5860157"/>
            <a:ext cx="186031" cy="148828"/>
          </a:xfrm>
          <a:prstGeom prst="rect">
            <a:avLst/>
          </a:prstGeom>
        </p:spPr>
      </p:pic>
      <p:sp>
        <p:nvSpPr>
          <p:cNvPr id="2104" name="Shape 34">
            <a:extLst>
              <a:ext uri="{FF2B5EF4-FFF2-40B4-BE49-F238E27FC236}">
                <a16:creationId xmlns:a16="http://schemas.microsoft.com/office/drawing/2014/main" id="{F09620CF-E320-5882-B3DF-92D20468C19B}"/>
              </a:ext>
            </a:extLst>
          </p:cNvPr>
          <p:cNvSpPr/>
          <p:nvPr/>
        </p:nvSpPr>
        <p:spPr>
          <a:xfrm>
            <a:off x="655126" y="5666879"/>
            <a:ext cx="10868745" cy="555129"/>
          </a:xfrm>
          <a:prstGeom prst="roundRect">
            <a:avLst>
              <a:gd name="adj" fmla="val 4022"/>
            </a:avLst>
          </a:prstGeom>
          <a:solidFill>
            <a:srgbClr val="F0EDE6"/>
          </a:solidFill>
          <a:ln/>
        </p:spPr>
      </p:sp>
      <p:sp>
        <p:nvSpPr>
          <p:cNvPr id="2108" name="Text 35">
            <a:extLst>
              <a:ext uri="{FF2B5EF4-FFF2-40B4-BE49-F238E27FC236}">
                <a16:creationId xmlns:a16="http://schemas.microsoft.com/office/drawing/2014/main" id="{9E15A2C6-193B-4FD1-73C9-8C92D5B8DBFB}"/>
              </a:ext>
            </a:extLst>
          </p:cNvPr>
          <p:cNvSpPr/>
          <p:nvPr/>
        </p:nvSpPr>
        <p:spPr>
          <a:xfrm>
            <a:off x="1145154" y="5838031"/>
            <a:ext cx="1084582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project uses </a:t>
            </a:r>
            <a:r>
              <a:rPr lang="en-US" sz="11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1:M relationships throughout</a:t>
            </a:r>
            <a:r>
              <a:rPr lang="en-US" sz="11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enforced by foreign key constraints linking dependent tables back to Member and Trainer.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22758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B1A3-B78B-0B47-3549-1D9085E6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6D326406-21C7-5C67-14E4-CA6218AD1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4558A72-E6D9-F2D4-F732-221B6E83086A}"/>
              </a:ext>
            </a:extLst>
          </p:cNvPr>
          <p:cNvGrpSpPr/>
          <p:nvPr/>
        </p:nvGrpSpPr>
        <p:grpSpPr>
          <a:xfrm>
            <a:off x="2928035" y="136524"/>
            <a:ext cx="5786824" cy="1235076"/>
            <a:chOff x="13004829" y="1407596"/>
            <a:chExt cx="7609421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47C2F38-4935-AE38-23A0-F5A0C743F9E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21686991-9422-96E0-9362-A9AE51A3B69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F42AB2A-F05A-50B9-4E89-C6BC9712989C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E8E074-A3E9-D93E-6D5C-884346681E70}"/>
                </a:ext>
              </a:extLst>
            </p:cNvPr>
            <p:cNvSpPr/>
            <p:nvPr/>
          </p:nvSpPr>
          <p:spPr>
            <a:xfrm>
              <a:off x="14978919" y="1523820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SCHEMA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A05DFD8B-1769-4BF9-C3D3-7374DFC57F8C}"/>
              </a:ext>
            </a:extLst>
          </p:cNvPr>
          <p:cNvSpPr/>
          <p:nvPr/>
        </p:nvSpPr>
        <p:spPr>
          <a:xfrm>
            <a:off x="661475" y="1241723"/>
            <a:ext cx="5295371" cy="4604544"/>
          </a:xfrm>
          <a:prstGeom prst="roundRect">
            <a:avLst>
              <a:gd name="adj" fmla="val 371"/>
            </a:avLst>
          </a:prstGeom>
          <a:solidFill>
            <a:srgbClr val="EFEEEB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A018272-EC3F-2418-4C5D-291DC4C8B29E}"/>
              </a:ext>
            </a:extLst>
          </p:cNvPr>
          <p:cNvSpPr/>
          <p:nvPr/>
        </p:nvSpPr>
        <p:spPr>
          <a:xfrm>
            <a:off x="798195" y="1355626"/>
            <a:ext cx="5021931" cy="437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MEMBER(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MemberID    INT PRIMARY KEY,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FirstName   VARCHAR(30),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LastName    VARCHAR(30),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Gender      VARCHAR(10),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 VARCHAR(15) UNIQUE,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JoinDate    DATE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TRAINER(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TrainerID      INT PRIMARY KEY,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TrainerName    VARCHAR(30),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Specialization VARCHAR(30),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    VARCHAR(15)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MEMBERSHIP(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MembershipID  INT PRIMARY KEY,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MemberID      INT FOREIGN KEY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REFERENCES MEMBER(MemberID),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          VARCHAR(20),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StartDate     DATE,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EndDate       DATE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B60B959-E60A-C06E-61FD-66097BF8EACE}"/>
              </a:ext>
            </a:extLst>
          </p:cNvPr>
          <p:cNvSpPr/>
          <p:nvPr/>
        </p:nvSpPr>
        <p:spPr>
          <a:xfrm>
            <a:off x="6241199" y="1241723"/>
            <a:ext cx="5295371" cy="4422180"/>
          </a:xfrm>
          <a:prstGeom prst="roundRect">
            <a:avLst>
              <a:gd name="adj" fmla="val 387"/>
            </a:avLst>
          </a:prstGeom>
          <a:solidFill>
            <a:srgbClr val="EFEEEB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7CE50C6-C851-FDEA-4ABE-4C2B1A6AC240}"/>
              </a:ext>
            </a:extLst>
          </p:cNvPr>
          <p:cNvSpPr/>
          <p:nvPr/>
        </p:nvSpPr>
        <p:spPr>
          <a:xfrm>
            <a:off x="6377919" y="1355626"/>
            <a:ext cx="5021931" cy="419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PaymentID    INT PRIMARY KEY,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MemberID     INT FOREIGN KEY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REFERENCES MEMBER(MemberID),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       DECIMAL(10,2),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PaymentDate  DATE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AttendanceID   INT PRIMARY KEY,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MemberID       INT FOREIGN KEY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REFERENCES MEMBER(MemberID),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AttendanceDate DATE,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CheckIn        TIME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WorkoutID    INT PRIMARY KEY,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TrainerID    INT FOREIGN KEY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REFERENCES TRAINER(TrainerID),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WorkoutType  VARCHAR(30),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Duration     INT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0CCA324-E5F4-F204-5E40-03EC04078AF9}"/>
              </a:ext>
            </a:extLst>
          </p:cNvPr>
          <p:cNvSpPr/>
          <p:nvPr/>
        </p:nvSpPr>
        <p:spPr>
          <a:xfrm>
            <a:off x="661475" y="6022876"/>
            <a:ext cx="10868745" cy="360065"/>
          </a:xfrm>
          <a:prstGeom prst="roundRect">
            <a:avLst>
              <a:gd name="adj" fmla="val 4748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498C2A4-C415-9F8C-77F6-A1A946671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75" y="6131719"/>
            <a:ext cx="142375" cy="113903"/>
          </a:xfrm>
          <a:prstGeom prst="rect">
            <a:avLst/>
          </a:prstGeom>
        </p:spPr>
      </p:pic>
      <p:sp>
        <p:nvSpPr>
          <p:cNvPr id="32" name="Text 8">
            <a:extLst>
              <a:ext uri="{FF2B5EF4-FFF2-40B4-BE49-F238E27FC236}">
                <a16:creationId xmlns:a16="http://schemas.microsoft.com/office/drawing/2014/main" id="{CFB06709-26FA-F1F6-C710-78BAE44E6825}"/>
              </a:ext>
            </a:extLst>
          </p:cNvPr>
          <p:cNvSpPr/>
          <p:nvPr/>
        </p:nvSpPr>
        <p:spPr>
          <a:xfrm>
            <a:off x="1031651" y="6129834"/>
            <a:ext cx="10994254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foreign key columns reference the primary key of their parent table, enforcing </a:t>
            </a:r>
            <a:r>
              <a:rPr lang="en-US" sz="8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referential integrity</a:t>
            </a: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across all six relations.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88461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5A20-45D1-6B13-2CCF-3103E8C0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F16B88A-5A98-7131-F5CE-F4E1E712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60C4B9E-5557-D47A-7893-C9B9FD7F52B8}"/>
              </a:ext>
            </a:extLst>
          </p:cNvPr>
          <p:cNvGrpSpPr/>
          <p:nvPr/>
        </p:nvGrpSpPr>
        <p:grpSpPr>
          <a:xfrm>
            <a:off x="2975674" y="139649"/>
            <a:ext cx="6238861" cy="1235076"/>
            <a:chOff x="13052448" y="1412427"/>
            <a:chExt cx="623644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7CFF2B8-4C8E-45C3-C0FA-4D051652F8C0}"/>
                </a:ext>
              </a:extLst>
            </p:cNvPr>
            <p:cNvGrpSpPr/>
            <p:nvPr/>
          </p:nvGrpSpPr>
          <p:grpSpPr>
            <a:xfrm>
              <a:off x="13052448" y="1412427"/>
              <a:ext cx="6141489" cy="1909355"/>
              <a:chOff x="4731778" y="722307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454DE6D1-204B-F353-F4DA-FF27C3CD1AD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31778" y="722307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D180558-8ED9-F9C7-E20F-A6188F85E406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123091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FDE64F-1860-0765-AC5C-76F4E01DA20A}"/>
                </a:ext>
              </a:extLst>
            </p:cNvPr>
            <p:cNvSpPr/>
            <p:nvPr/>
          </p:nvSpPr>
          <p:spPr>
            <a:xfrm>
              <a:off x="13653564" y="1630437"/>
              <a:ext cx="5635331" cy="7199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latin typeface="Book Antiqua"/>
                </a:rPr>
                <a:t>RELATIONSHIPS JUSTIFICATION</a:t>
              </a:r>
              <a:endParaRPr b="1" dirty="0">
                <a:latin typeface="Book Antiqua"/>
              </a:endParaRPr>
            </a:p>
          </p:txBody>
        </p:sp>
      </p:grpSp>
      <p:sp>
        <p:nvSpPr>
          <p:cNvPr id="3" name="Text 3">
            <a:extLst>
              <a:ext uri="{FF2B5EF4-FFF2-40B4-BE49-F238E27FC236}">
                <a16:creationId xmlns:a16="http://schemas.microsoft.com/office/drawing/2014/main" id="{5027D611-B444-2F3F-A0F9-B5C243AD90D9}"/>
              </a:ext>
            </a:extLst>
          </p:cNvPr>
          <p:cNvSpPr/>
          <p:nvPr/>
        </p:nvSpPr>
        <p:spPr>
          <a:xfrm>
            <a:off x="661475" y="1459905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defines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4 relationships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between its 6 entities. All relationships in this project are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One-to-Many (1:M)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implemented using foreign keys to maintain referential integrity across the database.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550A26-EFA2-C4C6-131A-A02A5882FAD7}"/>
              </a:ext>
            </a:extLst>
          </p:cNvPr>
          <p:cNvSpPr/>
          <p:nvPr/>
        </p:nvSpPr>
        <p:spPr>
          <a:xfrm>
            <a:off x="661475" y="1911747"/>
            <a:ext cx="10868745" cy="2221905"/>
          </a:xfrm>
          <a:prstGeom prst="roundRect">
            <a:avLst>
              <a:gd name="adj" fmla="val 83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D7E3240-67DC-D436-4E67-EF0ABF3A9DE1}"/>
              </a:ext>
            </a:extLst>
          </p:cNvPr>
          <p:cNvSpPr/>
          <p:nvPr/>
        </p:nvSpPr>
        <p:spPr>
          <a:xfrm>
            <a:off x="661475" y="2219127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BB81FC6D-C210-7C95-AECC-0A7F99BE0F92}"/>
              </a:ext>
            </a:extLst>
          </p:cNvPr>
          <p:cNvSpPr/>
          <p:nvPr/>
        </p:nvSpPr>
        <p:spPr>
          <a:xfrm>
            <a:off x="661475" y="2696964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7CB145DC-7104-86D9-6B96-684CC1AC9C40}"/>
              </a:ext>
            </a:extLst>
          </p:cNvPr>
          <p:cNvSpPr/>
          <p:nvPr/>
        </p:nvSpPr>
        <p:spPr>
          <a:xfrm>
            <a:off x="661475" y="3174802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C275D7E2-4D4D-51C3-E65A-EF9D87D387EB}"/>
              </a:ext>
            </a:extLst>
          </p:cNvPr>
          <p:cNvSpPr/>
          <p:nvPr/>
        </p:nvSpPr>
        <p:spPr>
          <a:xfrm>
            <a:off x="661475" y="3652639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C17268D4-B14B-0EFF-A376-455FC9C810D3}"/>
              </a:ext>
            </a:extLst>
          </p:cNvPr>
          <p:cNvSpPr/>
          <p:nvPr/>
        </p:nvSpPr>
        <p:spPr>
          <a:xfrm>
            <a:off x="3381985" y="1911747"/>
            <a:ext cx="7753" cy="2221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A2629097-71D8-2BA8-EE45-D1DBF4F2A1F9}"/>
              </a:ext>
            </a:extLst>
          </p:cNvPr>
          <p:cNvSpPr/>
          <p:nvPr/>
        </p:nvSpPr>
        <p:spPr>
          <a:xfrm>
            <a:off x="5010322" y="1911747"/>
            <a:ext cx="7753" cy="2221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CD7D48D0-2394-2731-C6D6-8B17067B9299}"/>
              </a:ext>
            </a:extLst>
          </p:cNvPr>
          <p:cNvSpPr/>
          <p:nvPr/>
        </p:nvSpPr>
        <p:spPr>
          <a:xfrm>
            <a:off x="668023" y="1918097"/>
            <a:ext cx="2713962" cy="301030"/>
          </a:xfrm>
          <a:custGeom>
            <a:avLst/>
            <a:gdLst/>
            <a:ahLst/>
            <a:cxnLst/>
            <a:rect l="l" t="t" r="r" b="b"/>
            <a:pathLst>
              <a:path w="2713962" h="301030">
                <a:moveTo>
                  <a:pt x="15505" y="0"/>
                </a:moveTo>
                <a:lnTo>
                  <a:pt x="2713962" y="0"/>
                </a:lnTo>
                <a:lnTo>
                  <a:pt x="2713962" y="301030"/>
                </a:lnTo>
                <a:lnTo>
                  <a:pt x="0" y="301030"/>
                </a:lnTo>
                <a:lnTo>
                  <a:pt x="0" y="15506"/>
                </a:lnTo>
                <a:arcTo wR="15505" hR="15506" stAng="10800000" swAng="5400000"/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09813EC0-323C-48FE-8245-5B32D2ECE711}"/>
              </a:ext>
            </a:extLst>
          </p:cNvPr>
          <p:cNvSpPr/>
          <p:nvPr/>
        </p:nvSpPr>
        <p:spPr>
          <a:xfrm>
            <a:off x="792043" y="1980208"/>
            <a:ext cx="307233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Relationship</a:t>
            </a:r>
            <a:endParaRPr lang="en-US" sz="95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F91F678D-913A-EC99-1D1B-C42D555B849F}"/>
              </a:ext>
            </a:extLst>
          </p:cNvPr>
          <p:cNvSpPr/>
          <p:nvPr/>
        </p:nvSpPr>
        <p:spPr>
          <a:xfrm>
            <a:off x="3381985" y="1918097"/>
            <a:ext cx="1628337" cy="3010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70FC8890-2949-43ED-895A-ADCCC03975DD}"/>
              </a:ext>
            </a:extLst>
          </p:cNvPr>
          <p:cNvSpPr/>
          <p:nvPr/>
        </p:nvSpPr>
        <p:spPr>
          <a:xfrm>
            <a:off x="3509180" y="1980208"/>
            <a:ext cx="19835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Cardinality</a:t>
            </a:r>
            <a:endParaRPr lang="en-US" sz="95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4CE81732-216C-2D2B-0B1A-D61A5218A2E5}"/>
              </a:ext>
            </a:extLst>
          </p:cNvPr>
          <p:cNvSpPr/>
          <p:nvPr/>
        </p:nvSpPr>
        <p:spPr>
          <a:xfrm>
            <a:off x="5010322" y="1918097"/>
            <a:ext cx="6513548" cy="301030"/>
          </a:xfrm>
          <a:custGeom>
            <a:avLst/>
            <a:gdLst/>
            <a:ahLst/>
            <a:cxnLst/>
            <a:rect l="l" t="t" r="r" b="b"/>
            <a:pathLst>
              <a:path w="6513548" h="301030">
                <a:moveTo>
                  <a:pt x="0" y="0"/>
                </a:moveTo>
                <a:lnTo>
                  <a:pt x="6498043" y="0"/>
                </a:lnTo>
                <a:arcTo wR="15505" hR="15506" stAng="16200000" swAng="5400000"/>
                <a:lnTo>
                  <a:pt x="6513548" y="301030"/>
                </a:lnTo>
                <a:lnTo>
                  <a:pt x="0" y="301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466E0650-E5A1-C684-9E9D-35385D6C71AB}"/>
              </a:ext>
            </a:extLst>
          </p:cNvPr>
          <p:cNvSpPr/>
          <p:nvPr/>
        </p:nvSpPr>
        <p:spPr>
          <a:xfrm>
            <a:off x="5137518" y="1980208"/>
            <a:ext cx="687191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5F1A36EF-806C-6E3E-F5B0-0C58FC0ED965}"/>
              </a:ext>
            </a:extLst>
          </p:cNvPr>
          <p:cNvSpPr/>
          <p:nvPr/>
        </p:nvSpPr>
        <p:spPr>
          <a:xfrm>
            <a:off x="792043" y="2284412"/>
            <a:ext cx="307233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 → MEMBERSHIP</a:t>
            </a:r>
            <a:endParaRPr lang="en-US" sz="95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0EBBDC55-39CC-B83D-4DAE-365A4806C52C}"/>
              </a:ext>
            </a:extLst>
          </p:cNvPr>
          <p:cNvSpPr/>
          <p:nvPr/>
        </p:nvSpPr>
        <p:spPr>
          <a:xfrm>
            <a:off x="3204388" y="2284412"/>
            <a:ext cx="19835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F609463B-B165-04C9-BE06-87018E2C72B4}"/>
              </a:ext>
            </a:extLst>
          </p:cNvPr>
          <p:cNvSpPr/>
          <p:nvPr/>
        </p:nvSpPr>
        <p:spPr>
          <a:xfrm>
            <a:off x="5137518" y="2284412"/>
            <a:ext cx="6262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hold multiple membership records over time — for example, a member may renew or upgrade their plan across different periods.</a:t>
            </a:r>
            <a:endParaRPr lang="en-US" sz="950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BCFEDBDE-251A-1EA6-2C40-EB17188970D3}"/>
              </a:ext>
            </a:extLst>
          </p:cNvPr>
          <p:cNvSpPr/>
          <p:nvPr/>
        </p:nvSpPr>
        <p:spPr>
          <a:xfrm>
            <a:off x="792043" y="2762250"/>
            <a:ext cx="307233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 → PAYMENT</a:t>
            </a:r>
            <a:endParaRPr lang="en-US" sz="95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314FCF7F-9970-539B-A47E-A891D35AFC5C}"/>
              </a:ext>
            </a:extLst>
          </p:cNvPr>
          <p:cNvSpPr/>
          <p:nvPr/>
        </p:nvSpPr>
        <p:spPr>
          <a:xfrm>
            <a:off x="3204388" y="2762250"/>
            <a:ext cx="19835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95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118E5C1D-E14E-156F-37DA-934B21334808}"/>
              </a:ext>
            </a:extLst>
          </p:cNvPr>
          <p:cNvSpPr/>
          <p:nvPr/>
        </p:nvSpPr>
        <p:spPr>
          <a:xfrm>
            <a:off x="5137518" y="2762250"/>
            <a:ext cx="6262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make multiple payment transactions — each renewal, fee, or purchase generates a new payment record linked to the same member.</a:t>
            </a:r>
            <a:endParaRPr lang="en-US" sz="95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7243DBC4-A0BA-B648-F8D3-A8B32F44BBE9}"/>
              </a:ext>
            </a:extLst>
          </p:cNvPr>
          <p:cNvSpPr/>
          <p:nvPr/>
        </p:nvSpPr>
        <p:spPr>
          <a:xfrm>
            <a:off x="792043" y="3240088"/>
            <a:ext cx="307233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 → ATTENDANCE</a:t>
            </a:r>
            <a:endParaRPr lang="en-US" sz="950" dirty="0"/>
          </a:p>
        </p:txBody>
      </p:sp>
      <p:sp>
        <p:nvSpPr>
          <p:cNvPr id="2049" name="Text 24">
            <a:extLst>
              <a:ext uri="{FF2B5EF4-FFF2-40B4-BE49-F238E27FC236}">
                <a16:creationId xmlns:a16="http://schemas.microsoft.com/office/drawing/2014/main" id="{4272695F-2935-83DE-A812-03BF5C9E89BC}"/>
              </a:ext>
            </a:extLst>
          </p:cNvPr>
          <p:cNvSpPr/>
          <p:nvPr/>
        </p:nvSpPr>
        <p:spPr>
          <a:xfrm>
            <a:off x="3204388" y="3240088"/>
            <a:ext cx="19835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950" dirty="0"/>
          </a:p>
        </p:txBody>
      </p:sp>
      <p:sp>
        <p:nvSpPr>
          <p:cNvPr id="2052" name="Text 25">
            <a:extLst>
              <a:ext uri="{FF2B5EF4-FFF2-40B4-BE49-F238E27FC236}">
                <a16:creationId xmlns:a16="http://schemas.microsoft.com/office/drawing/2014/main" id="{16F0D446-B0E8-8217-A4D3-CF2C644305E5}"/>
              </a:ext>
            </a:extLst>
          </p:cNvPr>
          <p:cNvSpPr/>
          <p:nvPr/>
        </p:nvSpPr>
        <p:spPr>
          <a:xfrm>
            <a:off x="5137518" y="3240088"/>
            <a:ext cx="6262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member can accumulate many attendance records, as a new entry is logged for each gym visit across multiple dates and sessions.</a:t>
            </a:r>
            <a:endParaRPr lang="en-US" sz="950" dirty="0"/>
          </a:p>
        </p:txBody>
      </p:sp>
      <p:sp>
        <p:nvSpPr>
          <p:cNvPr id="2055" name="Text 26">
            <a:extLst>
              <a:ext uri="{FF2B5EF4-FFF2-40B4-BE49-F238E27FC236}">
                <a16:creationId xmlns:a16="http://schemas.microsoft.com/office/drawing/2014/main" id="{F18A2A81-094B-3918-18E2-66F245F18132}"/>
              </a:ext>
            </a:extLst>
          </p:cNvPr>
          <p:cNvSpPr/>
          <p:nvPr/>
        </p:nvSpPr>
        <p:spPr>
          <a:xfrm>
            <a:off x="792043" y="3717925"/>
            <a:ext cx="307233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TRAINER → WORKOUT</a:t>
            </a:r>
            <a:endParaRPr lang="en-US" sz="950" dirty="0"/>
          </a:p>
        </p:txBody>
      </p:sp>
      <p:sp>
        <p:nvSpPr>
          <p:cNvPr id="2058" name="Text 27">
            <a:extLst>
              <a:ext uri="{FF2B5EF4-FFF2-40B4-BE49-F238E27FC236}">
                <a16:creationId xmlns:a16="http://schemas.microsoft.com/office/drawing/2014/main" id="{E19EB3E2-78C0-276C-F4E6-B42DF8A0EE8B}"/>
              </a:ext>
            </a:extLst>
          </p:cNvPr>
          <p:cNvSpPr/>
          <p:nvPr/>
        </p:nvSpPr>
        <p:spPr>
          <a:xfrm>
            <a:off x="3204388" y="3717925"/>
            <a:ext cx="19835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: M</a:t>
            </a:r>
            <a:endParaRPr lang="en-US" sz="950" dirty="0"/>
          </a:p>
        </p:txBody>
      </p:sp>
      <p:sp>
        <p:nvSpPr>
          <p:cNvPr id="2060" name="Text 28">
            <a:extLst>
              <a:ext uri="{FF2B5EF4-FFF2-40B4-BE49-F238E27FC236}">
                <a16:creationId xmlns:a16="http://schemas.microsoft.com/office/drawing/2014/main" id="{AF01724F-2E14-A650-A620-65E7D4A4604E}"/>
              </a:ext>
            </a:extLst>
          </p:cNvPr>
          <p:cNvSpPr/>
          <p:nvPr/>
        </p:nvSpPr>
        <p:spPr>
          <a:xfrm>
            <a:off x="5137518" y="3717925"/>
            <a:ext cx="6262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trainer can manage or assign multiple workout records, reflecting the responsibility of a single trainer over numerous training sessions.</a:t>
            </a:r>
            <a:endParaRPr lang="en-US" sz="950" dirty="0"/>
          </a:p>
        </p:txBody>
      </p:sp>
      <p:sp>
        <p:nvSpPr>
          <p:cNvPr id="2063" name="Shape 29">
            <a:extLst>
              <a:ext uri="{FF2B5EF4-FFF2-40B4-BE49-F238E27FC236}">
                <a16:creationId xmlns:a16="http://schemas.microsoft.com/office/drawing/2014/main" id="{7F0EDA8D-F742-AF2D-0AAB-CF4113536138}"/>
              </a:ext>
            </a:extLst>
          </p:cNvPr>
          <p:cNvSpPr/>
          <p:nvPr/>
        </p:nvSpPr>
        <p:spPr>
          <a:xfrm>
            <a:off x="572180" y="4238228"/>
            <a:ext cx="5461657" cy="1912739"/>
          </a:xfrm>
          <a:prstGeom prst="roundRect">
            <a:avLst>
              <a:gd name="adj" fmla="val 973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066" name="Text 30">
            <a:extLst>
              <a:ext uri="{FF2B5EF4-FFF2-40B4-BE49-F238E27FC236}">
                <a16:creationId xmlns:a16="http://schemas.microsoft.com/office/drawing/2014/main" id="{6F017D6B-C887-F920-30A9-34200933B32D}"/>
              </a:ext>
            </a:extLst>
          </p:cNvPr>
          <p:cNvSpPr/>
          <p:nvPr/>
        </p:nvSpPr>
        <p:spPr>
          <a:xfrm>
            <a:off x="696201" y="4331196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Cardinality Reference</a:t>
            </a:r>
            <a:endParaRPr lang="en-US" sz="1200" dirty="0"/>
          </a:p>
        </p:txBody>
      </p:sp>
      <p:sp>
        <p:nvSpPr>
          <p:cNvPr id="2068" name="Shape 31">
            <a:extLst>
              <a:ext uri="{FF2B5EF4-FFF2-40B4-BE49-F238E27FC236}">
                <a16:creationId xmlns:a16="http://schemas.microsoft.com/office/drawing/2014/main" id="{1C409B20-50A9-131C-7412-4118935C669C}"/>
              </a:ext>
            </a:extLst>
          </p:cNvPr>
          <p:cNvSpPr/>
          <p:nvPr/>
        </p:nvSpPr>
        <p:spPr>
          <a:xfrm>
            <a:off x="696201" y="4629547"/>
            <a:ext cx="5213616" cy="1416844"/>
          </a:xfrm>
          <a:prstGeom prst="roundRect">
            <a:avLst>
              <a:gd name="adj" fmla="val 1313"/>
            </a:avLst>
          </a:prstGeom>
          <a:solidFill>
            <a:srgbClr val="F0EDE6"/>
          </a:solidFill>
          <a:ln/>
        </p:spPr>
      </p:sp>
      <p:sp>
        <p:nvSpPr>
          <p:cNvPr id="2071" name="Shape 32">
            <a:extLst>
              <a:ext uri="{FF2B5EF4-FFF2-40B4-BE49-F238E27FC236}">
                <a16:creationId xmlns:a16="http://schemas.microsoft.com/office/drawing/2014/main" id="{FF035456-A39E-4157-D78C-118D64512D84}"/>
              </a:ext>
            </a:extLst>
          </p:cNvPr>
          <p:cNvSpPr/>
          <p:nvPr/>
        </p:nvSpPr>
        <p:spPr>
          <a:xfrm>
            <a:off x="696201" y="4629547"/>
            <a:ext cx="2606808" cy="708422"/>
          </a:xfrm>
          <a:custGeom>
            <a:avLst/>
            <a:gdLst/>
            <a:ahLst/>
            <a:cxnLst/>
            <a:rect l="l" t="t" r="r" b="b"/>
            <a:pathLst>
              <a:path w="2606808" h="708422">
                <a:moveTo>
                  <a:pt x="15505" y="0"/>
                </a:moveTo>
                <a:lnTo>
                  <a:pt x="2606808" y="0"/>
                </a:lnTo>
                <a:lnTo>
                  <a:pt x="2606808" y="708422"/>
                </a:lnTo>
                <a:lnTo>
                  <a:pt x="0" y="708422"/>
                </a:lnTo>
                <a:lnTo>
                  <a:pt x="0" y="15506"/>
                </a:lnTo>
                <a:arcTo wR="15505" hR="15506" stAng="10800000" swAng="5400000"/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74" name="Text 33">
            <a:extLst>
              <a:ext uri="{FF2B5EF4-FFF2-40B4-BE49-F238E27FC236}">
                <a16:creationId xmlns:a16="http://schemas.microsoft.com/office/drawing/2014/main" id="{C24D2FD4-015B-60DA-12B6-550A943BDEFB}"/>
              </a:ext>
            </a:extLst>
          </p:cNvPr>
          <p:cNvSpPr/>
          <p:nvPr/>
        </p:nvSpPr>
        <p:spPr>
          <a:xfrm>
            <a:off x="820221" y="4753570"/>
            <a:ext cx="23587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 : 1</a:t>
            </a:r>
            <a:endParaRPr lang="en-US" sz="1200" dirty="0"/>
          </a:p>
        </p:txBody>
      </p:sp>
      <p:sp>
        <p:nvSpPr>
          <p:cNvPr id="2076" name="Text 34">
            <a:extLst>
              <a:ext uri="{FF2B5EF4-FFF2-40B4-BE49-F238E27FC236}">
                <a16:creationId xmlns:a16="http://schemas.microsoft.com/office/drawing/2014/main" id="{C92B310C-3CA5-2342-C704-97CDADC1ABC1}"/>
              </a:ext>
            </a:extLst>
          </p:cNvPr>
          <p:cNvSpPr/>
          <p:nvPr/>
        </p:nvSpPr>
        <p:spPr>
          <a:xfrm>
            <a:off x="820221" y="5040313"/>
            <a:ext cx="23587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One-to-One</a:t>
            </a:r>
            <a:endParaRPr lang="en-US" sz="950" dirty="0"/>
          </a:p>
        </p:txBody>
      </p:sp>
      <p:sp>
        <p:nvSpPr>
          <p:cNvPr id="2079" name="Shape 35">
            <a:extLst>
              <a:ext uri="{FF2B5EF4-FFF2-40B4-BE49-F238E27FC236}">
                <a16:creationId xmlns:a16="http://schemas.microsoft.com/office/drawing/2014/main" id="{9EEE021A-FB51-478F-D4FC-108DF5F0C90B}"/>
              </a:ext>
            </a:extLst>
          </p:cNvPr>
          <p:cNvSpPr/>
          <p:nvPr/>
        </p:nvSpPr>
        <p:spPr>
          <a:xfrm>
            <a:off x="3303009" y="4629547"/>
            <a:ext cx="2606808" cy="708422"/>
          </a:xfrm>
          <a:custGeom>
            <a:avLst/>
            <a:gdLst/>
            <a:ahLst/>
            <a:cxnLst/>
            <a:rect l="l" t="t" r="r" b="b"/>
            <a:pathLst>
              <a:path w="2606808" h="708422">
                <a:moveTo>
                  <a:pt x="0" y="0"/>
                </a:moveTo>
                <a:lnTo>
                  <a:pt x="2591303" y="0"/>
                </a:lnTo>
                <a:arcTo wR="15505" hR="15506" stAng="16200000" swAng="5400000"/>
                <a:lnTo>
                  <a:pt x="2606808" y="708422"/>
                </a:lnTo>
                <a:lnTo>
                  <a:pt x="0" y="708422"/>
                </a:lnTo>
                <a:lnTo>
                  <a:pt x="0" y="0"/>
                </a:lnTo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82" name="Shape 36">
            <a:extLst>
              <a:ext uri="{FF2B5EF4-FFF2-40B4-BE49-F238E27FC236}">
                <a16:creationId xmlns:a16="http://schemas.microsoft.com/office/drawing/2014/main" id="{4D98CA1C-D1AC-B57D-D43E-3AA6A0B6A81D}"/>
              </a:ext>
            </a:extLst>
          </p:cNvPr>
          <p:cNvSpPr/>
          <p:nvPr/>
        </p:nvSpPr>
        <p:spPr>
          <a:xfrm>
            <a:off x="3303009" y="4629547"/>
            <a:ext cx="12700" cy="708422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085" name="Text 37">
            <a:extLst>
              <a:ext uri="{FF2B5EF4-FFF2-40B4-BE49-F238E27FC236}">
                <a16:creationId xmlns:a16="http://schemas.microsoft.com/office/drawing/2014/main" id="{A24463CC-2F95-3D78-EEE3-F092D8CDFFEF}"/>
              </a:ext>
            </a:extLst>
          </p:cNvPr>
          <p:cNvSpPr/>
          <p:nvPr/>
        </p:nvSpPr>
        <p:spPr>
          <a:xfrm>
            <a:off x="3427029" y="4753570"/>
            <a:ext cx="23587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 : M</a:t>
            </a:r>
            <a:endParaRPr lang="en-US" sz="1200" dirty="0"/>
          </a:p>
        </p:txBody>
      </p:sp>
      <p:sp>
        <p:nvSpPr>
          <p:cNvPr id="2089" name="Text 38">
            <a:extLst>
              <a:ext uri="{FF2B5EF4-FFF2-40B4-BE49-F238E27FC236}">
                <a16:creationId xmlns:a16="http://schemas.microsoft.com/office/drawing/2014/main" id="{34A7AEC1-D15F-61E0-0C9B-305AD3B1651C}"/>
              </a:ext>
            </a:extLst>
          </p:cNvPr>
          <p:cNvSpPr/>
          <p:nvPr/>
        </p:nvSpPr>
        <p:spPr>
          <a:xfrm>
            <a:off x="3427029" y="5040313"/>
            <a:ext cx="23587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One-to-Many</a:t>
            </a:r>
            <a:endParaRPr lang="en-US" sz="950" dirty="0"/>
          </a:p>
        </p:txBody>
      </p:sp>
      <p:sp>
        <p:nvSpPr>
          <p:cNvPr id="2093" name="Shape 39">
            <a:extLst>
              <a:ext uri="{FF2B5EF4-FFF2-40B4-BE49-F238E27FC236}">
                <a16:creationId xmlns:a16="http://schemas.microsoft.com/office/drawing/2014/main" id="{DB0C8D29-A796-3E7C-34DD-53FF5A96BA0E}"/>
              </a:ext>
            </a:extLst>
          </p:cNvPr>
          <p:cNvSpPr/>
          <p:nvPr/>
        </p:nvSpPr>
        <p:spPr>
          <a:xfrm>
            <a:off x="696201" y="5337969"/>
            <a:ext cx="5213616" cy="708422"/>
          </a:xfrm>
          <a:custGeom>
            <a:avLst/>
            <a:gdLst/>
            <a:ahLst/>
            <a:cxnLst/>
            <a:rect l="l" t="t" r="r" b="b"/>
            <a:pathLst>
              <a:path w="5213616" h="708422">
                <a:moveTo>
                  <a:pt x="0" y="0"/>
                </a:moveTo>
                <a:lnTo>
                  <a:pt x="5213616" y="0"/>
                </a:lnTo>
                <a:lnTo>
                  <a:pt x="5213616" y="692916"/>
                </a:lnTo>
                <a:arcTo wR="15505" hR="15506" stAng="0" swAng="5400000"/>
                <a:lnTo>
                  <a:pt x="15505" y="708422"/>
                </a:lnTo>
                <a:arcTo wR="15505" hR="15506" stAng="5400000" swAng="5400000"/>
                <a:lnTo>
                  <a:pt x="0" y="0"/>
                </a:lnTo>
                <a:close/>
              </a:path>
            </a:pathLst>
          </a:custGeom>
          <a:solidFill>
            <a:srgbClr val="F0EDE6"/>
          </a:solidFill>
          <a:ln/>
        </p:spPr>
      </p:sp>
      <p:sp>
        <p:nvSpPr>
          <p:cNvPr id="2097" name="Shape 40">
            <a:extLst>
              <a:ext uri="{FF2B5EF4-FFF2-40B4-BE49-F238E27FC236}">
                <a16:creationId xmlns:a16="http://schemas.microsoft.com/office/drawing/2014/main" id="{5B0A0309-98D7-2714-9310-251BE1979439}"/>
              </a:ext>
            </a:extLst>
          </p:cNvPr>
          <p:cNvSpPr/>
          <p:nvPr/>
        </p:nvSpPr>
        <p:spPr>
          <a:xfrm>
            <a:off x="696201" y="5337969"/>
            <a:ext cx="5213616" cy="1270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2101" name="Text 41">
            <a:extLst>
              <a:ext uri="{FF2B5EF4-FFF2-40B4-BE49-F238E27FC236}">
                <a16:creationId xmlns:a16="http://schemas.microsoft.com/office/drawing/2014/main" id="{BC5DFD6C-2609-0EF4-27B0-1FAEF946E1A9}"/>
              </a:ext>
            </a:extLst>
          </p:cNvPr>
          <p:cNvSpPr/>
          <p:nvPr/>
        </p:nvSpPr>
        <p:spPr>
          <a:xfrm>
            <a:off x="820221" y="5461992"/>
            <a:ext cx="496557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 : N</a:t>
            </a:r>
            <a:endParaRPr lang="en-US" sz="1200" dirty="0"/>
          </a:p>
        </p:txBody>
      </p:sp>
      <p:sp>
        <p:nvSpPr>
          <p:cNvPr id="2105" name="Text 42">
            <a:extLst>
              <a:ext uri="{FF2B5EF4-FFF2-40B4-BE49-F238E27FC236}">
                <a16:creationId xmlns:a16="http://schemas.microsoft.com/office/drawing/2014/main" id="{66F89489-B24C-0789-D9F7-8D30CDF00414}"/>
              </a:ext>
            </a:extLst>
          </p:cNvPr>
          <p:cNvSpPr/>
          <p:nvPr/>
        </p:nvSpPr>
        <p:spPr>
          <a:xfrm>
            <a:off x="820221" y="5748734"/>
            <a:ext cx="496557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Many-to-Many</a:t>
            </a:r>
            <a:endParaRPr lang="en-US" sz="950" dirty="0"/>
          </a:p>
        </p:txBody>
      </p:sp>
      <p:sp>
        <p:nvSpPr>
          <p:cNvPr id="2107" name="Text 43">
            <a:extLst>
              <a:ext uri="{FF2B5EF4-FFF2-40B4-BE49-F238E27FC236}">
                <a16:creationId xmlns:a16="http://schemas.microsoft.com/office/drawing/2014/main" id="{087B245A-FA5C-F4EA-6E24-3F87C566286D}"/>
              </a:ext>
            </a:extLst>
          </p:cNvPr>
          <p:cNvSpPr/>
          <p:nvPr/>
        </p:nvSpPr>
        <p:spPr>
          <a:xfrm>
            <a:off x="6253502" y="4331196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2110" name="Text 44">
            <a:extLst>
              <a:ext uri="{FF2B5EF4-FFF2-40B4-BE49-F238E27FC236}">
                <a16:creationId xmlns:a16="http://schemas.microsoft.com/office/drawing/2014/main" id="{CA17FABA-1C10-1FC7-60BE-F943C96949FC}"/>
              </a:ext>
            </a:extLst>
          </p:cNvPr>
          <p:cNvSpPr/>
          <p:nvPr/>
        </p:nvSpPr>
        <p:spPr>
          <a:xfrm>
            <a:off x="6253502" y="4617938"/>
            <a:ext cx="5283068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 this project, all active relationships are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1:M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Each One-to-Many relationship is physically enforced in the relational schema using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foreign keys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on the "many" side of the relationship. This approach ensures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referential integrity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preventing orphaned records and guaranteeing that every child record (e.g., a payment) always maps back to a valid parent (e.g., a member).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1782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BFF1-5FD6-A74B-002D-868AC339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96C5FBD7-6466-800A-2807-9028FD5A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C3CAB69-03A9-A084-9E33-7EDC5EAA8AF5}"/>
              </a:ext>
            </a:extLst>
          </p:cNvPr>
          <p:cNvGrpSpPr/>
          <p:nvPr/>
        </p:nvGrpSpPr>
        <p:grpSpPr>
          <a:xfrm>
            <a:off x="2928035" y="136524"/>
            <a:ext cx="6467245" cy="1235076"/>
            <a:chOff x="13004830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C281A69-9251-B880-3430-AB64E608A636}"/>
                </a:ext>
              </a:extLst>
            </p:cNvPr>
            <p:cNvGrpSpPr/>
            <p:nvPr/>
          </p:nvGrpSpPr>
          <p:grpSpPr>
            <a:xfrm>
              <a:off x="13004830" y="1407596"/>
              <a:ext cx="6141489" cy="1909355"/>
              <a:chOff x="4704979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CDCC558C-D0B4-068B-B3FC-16A483970D2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9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85398B36-3CD7-0DA0-71E8-E9780D96ED16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777799-F84E-D57B-8697-C4B21126C0C3}"/>
                </a:ext>
              </a:extLst>
            </p:cNvPr>
            <p:cNvSpPr/>
            <p:nvPr/>
          </p:nvSpPr>
          <p:spPr>
            <a:xfrm>
              <a:off x="13510987" y="1647645"/>
              <a:ext cx="5635331" cy="13622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latin typeface="Book Antiqua"/>
                </a:rPr>
                <a:t>NORMALIZATION AND SQL OPERATIONS</a:t>
              </a:r>
              <a:endParaRPr b="1" dirty="0">
                <a:latin typeface="Book Antiqua"/>
              </a:endParaRPr>
            </a:p>
          </p:txBody>
        </p:sp>
      </p:grpSp>
      <p:sp>
        <p:nvSpPr>
          <p:cNvPr id="12" name="Text 3">
            <a:extLst>
              <a:ext uri="{FF2B5EF4-FFF2-40B4-BE49-F238E27FC236}">
                <a16:creationId xmlns:a16="http://schemas.microsoft.com/office/drawing/2014/main" id="{9277618B-444C-3E9C-485B-7C9B276EF371}"/>
              </a:ext>
            </a:extLst>
          </p:cNvPr>
          <p:cNvSpPr/>
          <p:nvPr/>
        </p:nvSpPr>
        <p:spPr>
          <a:xfrm>
            <a:off x="367476" y="1531985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Normalization — Forms Applied</a:t>
            </a:r>
            <a:endParaRPr lang="en-US" sz="16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D2D84CFB-2539-4DE8-0FF2-128BB87237EF}"/>
              </a:ext>
            </a:extLst>
          </p:cNvPr>
          <p:cNvSpPr/>
          <p:nvPr/>
        </p:nvSpPr>
        <p:spPr>
          <a:xfrm>
            <a:off x="367476" y="2147095"/>
            <a:ext cx="883819" cy="736402"/>
          </a:xfrm>
          <a:prstGeom prst="roundRect">
            <a:avLst>
              <a:gd name="adj" fmla="val 2190"/>
            </a:avLst>
          </a:prstGeom>
          <a:solidFill>
            <a:srgbClr val="F0EDE6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2D4C549-E0F7-98C8-AB6A-F3D3560D96AC}"/>
              </a:ext>
            </a:extLst>
          </p:cNvPr>
          <p:cNvSpPr/>
          <p:nvPr/>
        </p:nvSpPr>
        <p:spPr>
          <a:xfrm>
            <a:off x="733782" y="2420840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3C43C561-EAFB-B25F-58E8-647222E2C683}"/>
              </a:ext>
            </a:extLst>
          </p:cNvPr>
          <p:cNvSpPr/>
          <p:nvPr/>
        </p:nvSpPr>
        <p:spPr>
          <a:xfrm>
            <a:off x="1358746" y="2254549"/>
            <a:ext cx="42045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1NF — First Normal Form</a:t>
            </a:r>
            <a:endParaRPr lang="en-US" sz="105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228EFA6-2308-E5E4-28FF-94777D644433}"/>
              </a:ext>
            </a:extLst>
          </p:cNvPr>
          <p:cNvSpPr/>
          <p:nvPr/>
        </p:nvSpPr>
        <p:spPr>
          <a:xfrm>
            <a:off x="1358746" y="2492277"/>
            <a:ext cx="420458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attributes are atomic (no repeating groups). Each column holds a single value per row.</a:t>
            </a:r>
            <a:endParaRPr lang="en-US" sz="80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61F5EA80-3FA7-C1C6-322D-2762927200B9}"/>
              </a:ext>
            </a:extLst>
          </p:cNvPr>
          <p:cNvSpPr/>
          <p:nvPr/>
        </p:nvSpPr>
        <p:spPr>
          <a:xfrm>
            <a:off x="1304970" y="2880322"/>
            <a:ext cx="4312137" cy="635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4AF32D59-5634-E52A-13B5-A598754C1AE2}"/>
              </a:ext>
            </a:extLst>
          </p:cNvPr>
          <p:cNvSpPr/>
          <p:nvPr/>
        </p:nvSpPr>
        <p:spPr>
          <a:xfrm>
            <a:off x="367476" y="2937174"/>
            <a:ext cx="1767736" cy="736402"/>
          </a:xfrm>
          <a:prstGeom prst="roundRect">
            <a:avLst>
              <a:gd name="adj" fmla="val 2190"/>
            </a:avLst>
          </a:prstGeom>
          <a:solidFill>
            <a:srgbClr val="F0EDE6"/>
          </a:solidFill>
          <a:ln/>
        </p:spPr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5E5E014-2897-8874-031E-4D57F6F861F2}"/>
              </a:ext>
            </a:extLst>
          </p:cNvPr>
          <p:cNvSpPr/>
          <p:nvPr/>
        </p:nvSpPr>
        <p:spPr>
          <a:xfrm>
            <a:off x="1175791" y="3210919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5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644259FC-4839-553A-7385-6DFD64B8697E}"/>
              </a:ext>
            </a:extLst>
          </p:cNvPr>
          <p:cNvSpPr/>
          <p:nvPr/>
        </p:nvSpPr>
        <p:spPr>
          <a:xfrm>
            <a:off x="2242663" y="3044628"/>
            <a:ext cx="33206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2NF — Second Normal Form</a:t>
            </a:r>
            <a:endParaRPr lang="en-US" sz="105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2667CF3A-CBDB-8306-90A7-82B6DA520B0D}"/>
              </a:ext>
            </a:extLst>
          </p:cNvPr>
          <p:cNvSpPr/>
          <p:nvPr/>
        </p:nvSpPr>
        <p:spPr>
          <a:xfrm>
            <a:off x="2242663" y="3282356"/>
            <a:ext cx="332066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non-key attributes are fully functionally dependent on the entire primary key (no partial dependencies).</a:t>
            </a:r>
            <a:endParaRPr lang="en-US" sz="8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65362AE4-9FA8-9B07-3801-6EB6509AE3C3}"/>
              </a:ext>
            </a:extLst>
          </p:cNvPr>
          <p:cNvSpPr/>
          <p:nvPr/>
        </p:nvSpPr>
        <p:spPr>
          <a:xfrm>
            <a:off x="2188888" y="3670401"/>
            <a:ext cx="3428220" cy="6350"/>
          </a:xfrm>
          <a:prstGeom prst="roundRect">
            <a:avLst>
              <a:gd name="adj" fmla="val 49999"/>
            </a:avLst>
          </a:prstGeom>
          <a:solidFill>
            <a:srgbClr val="D6D3CC"/>
          </a:solidFill>
          <a:ln/>
        </p:spPr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CD6B2EBE-0183-C94D-C627-84192BDD6A47}"/>
              </a:ext>
            </a:extLst>
          </p:cNvPr>
          <p:cNvSpPr/>
          <p:nvPr/>
        </p:nvSpPr>
        <p:spPr>
          <a:xfrm>
            <a:off x="367476" y="3727253"/>
            <a:ext cx="2651654" cy="878284"/>
          </a:xfrm>
          <a:prstGeom prst="roundRect">
            <a:avLst>
              <a:gd name="adj" fmla="val 1836"/>
            </a:avLst>
          </a:prstGeom>
          <a:solidFill>
            <a:srgbClr val="F0EDE6"/>
          </a:solidFill>
          <a:ln/>
        </p:spPr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4CB52A36-5DE5-E685-72C6-735ADC137455}"/>
              </a:ext>
            </a:extLst>
          </p:cNvPr>
          <p:cNvSpPr/>
          <p:nvPr/>
        </p:nvSpPr>
        <p:spPr>
          <a:xfrm>
            <a:off x="1617700" y="4071939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50" dirty="0"/>
          </a:p>
        </p:txBody>
      </p:sp>
      <p:sp>
        <p:nvSpPr>
          <p:cNvPr id="2048" name="Text 16">
            <a:extLst>
              <a:ext uri="{FF2B5EF4-FFF2-40B4-BE49-F238E27FC236}">
                <a16:creationId xmlns:a16="http://schemas.microsoft.com/office/drawing/2014/main" id="{E0F9305B-F7BC-2A3C-273B-39DCD1CB07DD}"/>
              </a:ext>
            </a:extLst>
          </p:cNvPr>
          <p:cNvSpPr/>
          <p:nvPr/>
        </p:nvSpPr>
        <p:spPr>
          <a:xfrm>
            <a:off x="3126581" y="3834707"/>
            <a:ext cx="243675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3NF — Third Normal Form</a:t>
            </a:r>
            <a:endParaRPr lang="en-US" sz="1050" dirty="0"/>
          </a:p>
        </p:txBody>
      </p:sp>
      <p:sp>
        <p:nvSpPr>
          <p:cNvPr id="2053" name="Text 17">
            <a:extLst>
              <a:ext uri="{FF2B5EF4-FFF2-40B4-BE49-F238E27FC236}">
                <a16:creationId xmlns:a16="http://schemas.microsoft.com/office/drawing/2014/main" id="{B6999435-5187-13FF-50BE-9FCBBB5FE28B}"/>
              </a:ext>
            </a:extLst>
          </p:cNvPr>
          <p:cNvSpPr/>
          <p:nvPr/>
        </p:nvSpPr>
        <p:spPr>
          <a:xfrm>
            <a:off x="3126581" y="4072435"/>
            <a:ext cx="2436752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transitive dependencies exist — non-key attributes depend only on the primary key, not on other non-key attributes.</a:t>
            </a:r>
            <a:endParaRPr lang="en-US" sz="800" dirty="0"/>
          </a:p>
        </p:txBody>
      </p:sp>
      <p:sp>
        <p:nvSpPr>
          <p:cNvPr id="2057" name="Text 18">
            <a:extLst>
              <a:ext uri="{FF2B5EF4-FFF2-40B4-BE49-F238E27FC236}">
                <a16:creationId xmlns:a16="http://schemas.microsoft.com/office/drawing/2014/main" id="{8D8B0D53-2F09-5C54-D473-C6504BB0E49D}"/>
              </a:ext>
            </a:extLst>
          </p:cNvPr>
          <p:cNvSpPr/>
          <p:nvPr/>
        </p:nvSpPr>
        <p:spPr>
          <a:xfrm>
            <a:off x="6233262" y="118735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Sample SQL — DDL &amp; DML</a:t>
            </a:r>
            <a:endParaRPr lang="en-US" sz="1050" dirty="0"/>
          </a:p>
        </p:txBody>
      </p:sp>
      <p:sp>
        <p:nvSpPr>
          <p:cNvPr id="2061" name="Shape 19">
            <a:extLst>
              <a:ext uri="{FF2B5EF4-FFF2-40B4-BE49-F238E27FC236}">
                <a16:creationId xmlns:a16="http://schemas.microsoft.com/office/drawing/2014/main" id="{85ABF6EB-777B-AA5A-21F1-2E96D3777944}"/>
              </a:ext>
            </a:extLst>
          </p:cNvPr>
          <p:cNvSpPr/>
          <p:nvPr/>
        </p:nvSpPr>
        <p:spPr>
          <a:xfrm>
            <a:off x="6233262" y="1433810"/>
            <a:ext cx="5303308" cy="4860131"/>
          </a:xfrm>
          <a:prstGeom prst="roundRect">
            <a:avLst>
              <a:gd name="adj" fmla="val 332"/>
            </a:avLst>
          </a:prstGeom>
          <a:solidFill>
            <a:srgbClr val="EFEEEB"/>
          </a:solidFill>
          <a:ln/>
        </p:spPr>
      </p:sp>
      <p:sp>
        <p:nvSpPr>
          <p:cNvPr id="2065" name="Text 20">
            <a:extLst>
              <a:ext uri="{FF2B5EF4-FFF2-40B4-BE49-F238E27FC236}">
                <a16:creationId xmlns:a16="http://schemas.microsoft.com/office/drawing/2014/main" id="{DFF4ED78-90B3-8CB2-6E81-22745D7273F9}"/>
              </a:ext>
            </a:extLst>
          </p:cNvPr>
          <p:cNvSpPr/>
          <p:nvPr/>
        </p:nvSpPr>
        <p:spPr>
          <a:xfrm>
            <a:off x="6362243" y="1541264"/>
            <a:ext cx="5045346" cy="4645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TABLE (DDL)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Member 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MemberID INT PRIMARY KEY,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FirstName VARCHAR(30) NOT NULL,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Phone VARCHAR(15) UNIQUE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 (DML)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Member VALUES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(1, 'Riya', 'Sharma', 'F',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'9876543210', '2024-01-15');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-- SELECT with JOIN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M.FirstName, P.Amount,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P.PaymentDate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 M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JOIN Payment P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ON M.MemberID = P.MemberID;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Member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SET Phone = '9000000001'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MemberID = 1;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Attendance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WHERE AttendanceDate &lt; '2023-01-01';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9825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5B06-7CC3-EF3B-2FAA-87196BD3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BBAEFC3D-B28A-68F8-E4F8-C6771821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F6EB75B-724F-0522-B5A1-FB85C63801BA}"/>
              </a:ext>
            </a:extLst>
          </p:cNvPr>
          <p:cNvGrpSpPr/>
          <p:nvPr/>
        </p:nvGrpSpPr>
        <p:grpSpPr>
          <a:xfrm>
            <a:off x="3601620" y="-609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357333-63D7-A257-631C-E50D844A359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BE7F040-5771-0F8B-8F58-B58255D304F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F5DB07CF-6ACD-ABC0-C5D0-078A545206C5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9C45E6A-B5E6-A1E0-E956-2DEEAB36B63B}"/>
                </a:ext>
              </a:extLst>
            </p:cNvPr>
            <p:cNvSpPr/>
            <p:nvPr/>
          </p:nvSpPr>
          <p:spPr>
            <a:xfrm>
              <a:off x="13510987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SCHEMA SEPERATION</a:t>
              </a:r>
              <a:endParaRPr sz="2400" b="1" dirty="0">
                <a:latin typeface="Book Antiqua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D4567E3-6308-6B5B-DC25-D6850598F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2"/>
          <a:stretch>
            <a:fillRect/>
          </a:stretch>
        </p:blipFill>
        <p:spPr>
          <a:xfrm>
            <a:off x="1076325" y="976420"/>
            <a:ext cx="9721080" cy="53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16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03D5-5455-2E6E-EFC8-FBCBC3EA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843E96A-C12A-F5F3-5BB5-740AF329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F48CD95-8B4C-8123-BF0A-6C9F4657743E}"/>
              </a:ext>
            </a:extLst>
          </p:cNvPr>
          <p:cNvGrpSpPr/>
          <p:nvPr/>
        </p:nvGrpSpPr>
        <p:grpSpPr>
          <a:xfrm>
            <a:off x="2928035" y="136524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4AF7E2E-46A0-7750-5E83-BCA00719A2D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9AB828B-5E4B-1E31-CD5F-9CFC375F0F8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A1E220A-4E03-7C79-FCB1-20A35B26FA25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FD5AB9-CFC2-E55C-420E-5E9BEC3841D0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E-R DIAGRAM</a:t>
              </a:r>
              <a:endParaRPr sz="2400" b="1" dirty="0">
                <a:latin typeface="Book Antiqua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5938764-8856-F9D3-D9F6-35CCD61DB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011668"/>
            <a:ext cx="10801199" cy="570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32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5A44-3799-FABF-83E5-0431B26D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4AFAE353-7EC3-8F3E-F2B7-DB1B55F7F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44ED529-3E59-F644-D249-767B5C272219}"/>
              </a:ext>
            </a:extLst>
          </p:cNvPr>
          <p:cNvGrpSpPr/>
          <p:nvPr/>
        </p:nvGrpSpPr>
        <p:grpSpPr>
          <a:xfrm>
            <a:off x="2928035" y="136524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3459AF-7DCA-B43B-E885-7FFC0564707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ED699943-1156-C40D-05C5-B99713DDC2D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08F97DE-9182-3094-090E-7BF874706DB4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8B7E0B-C0B1-69DC-B4CF-FD101A5B60E3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E-R DIAGRAM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F15D68CE-D4A3-C576-F18A-6B58DB570977}"/>
              </a:ext>
            </a:extLst>
          </p:cNvPr>
          <p:cNvSpPr/>
          <p:nvPr/>
        </p:nvSpPr>
        <p:spPr>
          <a:xfrm>
            <a:off x="661475" y="161667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Entities &amp; Their Attributes</a:t>
            </a:r>
            <a:endParaRPr lang="en-US" sz="135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BA1DF9B-72C2-69D6-25DE-A05A7C8F0476}"/>
              </a:ext>
            </a:extLst>
          </p:cNvPr>
          <p:cNvSpPr/>
          <p:nvPr/>
        </p:nvSpPr>
        <p:spPr>
          <a:xfrm>
            <a:off x="661475" y="1970584"/>
            <a:ext cx="5262927" cy="3677444"/>
          </a:xfrm>
          <a:prstGeom prst="roundRect">
            <a:avLst>
              <a:gd name="adj" fmla="val 57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2E932365-4158-B232-4D03-27527AD72A70}"/>
              </a:ext>
            </a:extLst>
          </p:cNvPr>
          <p:cNvSpPr/>
          <p:nvPr/>
        </p:nvSpPr>
        <p:spPr>
          <a:xfrm>
            <a:off x="661475" y="2344142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808432D5-BD5E-2866-E39A-A0B843F677E9}"/>
              </a:ext>
            </a:extLst>
          </p:cNvPr>
          <p:cNvSpPr/>
          <p:nvPr/>
        </p:nvSpPr>
        <p:spPr>
          <a:xfrm>
            <a:off x="661475" y="2928938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D145804C-1353-57B3-4857-A385FDF99E47}"/>
              </a:ext>
            </a:extLst>
          </p:cNvPr>
          <p:cNvSpPr/>
          <p:nvPr/>
        </p:nvSpPr>
        <p:spPr>
          <a:xfrm>
            <a:off x="661475" y="3305671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A1EE7BAF-65E4-FE4B-14D6-BD4A34766370}"/>
              </a:ext>
            </a:extLst>
          </p:cNvPr>
          <p:cNvSpPr/>
          <p:nvPr/>
        </p:nvSpPr>
        <p:spPr>
          <a:xfrm>
            <a:off x="661475" y="3890466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EED61022-9919-B54B-28B6-A782F925D4B1}"/>
              </a:ext>
            </a:extLst>
          </p:cNvPr>
          <p:cNvSpPr/>
          <p:nvPr/>
        </p:nvSpPr>
        <p:spPr>
          <a:xfrm>
            <a:off x="661475" y="4475262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F2DCABDC-D517-C20C-C2CA-F85A764CE87C}"/>
              </a:ext>
            </a:extLst>
          </p:cNvPr>
          <p:cNvSpPr/>
          <p:nvPr/>
        </p:nvSpPr>
        <p:spPr>
          <a:xfrm>
            <a:off x="661475" y="5060057"/>
            <a:ext cx="5262927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D2C63B9A-0DF8-B45C-19E3-4F93EC64B9F2}"/>
              </a:ext>
            </a:extLst>
          </p:cNvPr>
          <p:cNvSpPr/>
          <p:nvPr/>
        </p:nvSpPr>
        <p:spPr>
          <a:xfrm>
            <a:off x="2242982" y="1970584"/>
            <a:ext cx="8786" cy="36774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0C9A688-0F9E-1FB4-3CAA-C29E134A0B9B}"/>
              </a:ext>
            </a:extLst>
          </p:cNvPr>
          <p:cNvSpPr/>
          <p:nvPr/>
        </p:nvSpPr>
        <p:spPr>
          <a:xfrm>
            <a:off x="808414" y="2054920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Entity</a:t>
            </a:r>
            <a:endParaRPr lang="en-US" sz="11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8E234B5-5E4B-C1DD-B6C3-A7326BAB5E9F}"/>
              </a:ext>
            </a:extLst>
          </p:cNvPr>
          <p:cNvSpPr/>
          <p:nvPr/>
        </p:nvSpPr>
        <p:spPr>
          <a:xfrm>
            <a:off x="2386647" y="2054920"/>
            <a:ext cx="400049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7FA3D5F3-8FE2-5A2F-E17B-21D771CE71B8}"/>
              </a:ext>
            </a:extLst>
          </p:cNvPr>
          <p:cNvSpPr/>
          <p:nvPr/>
        </p:nvSpPr>
        <p:spPr>
          <a:xfrm>
            <a:off x="808414" y="2425303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</a:t>
            </a:r>
            <a:endParaRPr lang="en-US" sz="110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6272DF57-ED8E-B386-5F84-7826C17EA8CD}"/>
              </a:ext>
            </a:extLst>
          </p:cNvPr>
          <p:cNvSpPr/>
          <p:nvPr/>
        </p:nvSpPr>
        <p:spPr>
          <a:xfrm>
            <a:off x="2386647" y="2425303"/>
            <a:ext cx="3390914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FirstName, LastName, Gender, Phone, DOB, Age*</a:t>
            </a:r>
            <a:endParaRPr lang="en-US" sz="1100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A28EB480-7FCB-075F-D5B6-605E197589B6}"/>
              </a:ext>
            </a:extLst>
          </p:cNvPr>
          <p:cNvSpPr/>
          <p:nvPr/>
        </p:nvSpPr>
        <p:spPr>
          <a:xfrm>
            <a:off x="808414" y="3010098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TRAINER</a:t>
            </a:r>
            <a:endParaRPr lang="en-US" sz="1100" dirty="0"/>
          </a:p>
        </p:txBody>
      </p:sp>
      <p:sp>
        <p:nvSpPr>
          <p:cNvPr id="2048" name="Text 17">
            <a:extLst>
              <a:ext uri="{FF2B5EF4-FFF2-40B4-BE49-F238E27FC236}">
                <a16:creationId xmlns:a16="http://schemas.microsoft.com/office/drawing/2014/main" id="{931B5AE0-A7E7-23A8-35D4-9DCEF34FE952}"/>
              </a:ext>
            </a:extLst>
          </p:cNvPr>
          <p:cNvSpPr/>
          <p:nvPr/>
        </p:nvSpPr>
        <p:spPr>
          <a:xfrm>
            <a:off x="2386647" y="3010098"/>
            <a:ext cx="4000499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TrainerName, Specialization, Phone</a:t>
            </a:r>
            <a:endParaRPr lang="en-US" sz="1100" dirty="0"/>
          </a:p>
        </p:txBody>
      </p:sp>
      <p:sp>
        <p:nvSpPr>
          <p:cNvPr id="2053" name="Text 18">
            <a:extLst>
              <a:ext uri="{FF2B5EF4-FFF2-40B4-BE49-F238E27FC236}">
                <a16:creationId xmlns:a16="http://schemas.microsoft.com/office/drawing/2014/main" id="{E2B6B8DF-8234-E8A7-F349-8DC789C35D6A}"/>
              </a:ext>
            </a:extLst>
          </p:cNvPr>
          <p:cNvSpPr/>
          <p:nvPr/>
        </p:nvSpPr>
        <p:spPr>
          <a:xfrm>
            <a:off x="808414" y="3386832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2057" name="Text 19">
            <a:extLst>
              <a:ext uri="{FF2B5EF4-FFF2-40B4-BE49-F238E27FC236}">
                <a16:creationId xmlns:a16="http://schemas.microsoft.com/office/drawing/2014/main" id="{90C3058E-F819-0ACB-A328-809C0A4A3CD6}"/>
              </a:ext>
            </a:extLst>
          </p:cNvPr>
          <p:cNvSpPr/>
          <p:nvPr/>
        </p:nvSpPr>
        <p:spPr>
          <a:xfrm>
            <a:off x="2386647" y="3386832"/>
            <a:ext cx="3390914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Plan, StartDate, EndDate</a:t>
            </a:r>
            <a:endParaRPr lang="en-US" sz="1100" dirty="0"/>
          </a:p>
        </p:txBody>
      </p:sp>
      <p:sp>
        <p:nvSpPr>
          <p:cNvPr id="2061" name="Text 20">
            <a:extLst>
              <a:ext uri="{FF2B5EF4-FFF2-40B4-BE49-F238E27FC236}">
                <a16:creationId xmlns:a16="http://schemas.microsoft.com/office/drawing/2014/main" id="{B2A3ADAE-BBDF-A048-C444-CCC07D312D55}"/>
              </a:ext>
            </a:extLst>
          </p:cNvPr>
          <p:cNvSpPr/>
          <p:nvPr/>
        </p:nvSpPr>
        <p:spPr>
          <a:xfrm>
            <a:off x="808414" y="3971627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2065" name="Text 21">
            <a:extLst>
              <a:ext uri="{FF2B5EF4-FFF2-40B4-BE49-F238E27FC236}">
                <a16:creationId xmlns:a16="http://schemas.microsoft.com/office/drawing/2014/main" id="{C18F9EF6-AD12-9A7D-0631-6031131A70DC}"/>
              </a:ext>
            </a:extLst>
          </p:cNvPr>
          <p:cNvSpPr/>
          <p:nvPr/>
        </p:nvSpPr>
        <p:spPr>
          <a:xfrm>
            <a:off x="2386647" y="3971627"/>
            <a:ext cx="3390914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Amount, PaymentDate</a:t>
            </a:r>
            <a:endParaRPr lang="en-US" sz="1100" dirty="0"/>
          </a:p>
        </p:txBody>
      </p:sp>
      <p:sp>
        <p:nvSpPr>
          <p:cNvPr id="2069" name="Text 22">
            <a:extLst>
              <a:ext uri="{FF2B5EF4-FFF2-40B4-BE49-F238E27FC236}">
                <a16:creationId xmlns:a16="http://schemas.microsoft.com/office/drawing/2014/main" id="{35A23EC2-6FFF-9306-425C-F630AC00511E}"/>
              </a:ext>
            </a:extLst>
          </p:cNvPr>
          <p:cNvSpPr/>
          <p:nvPr/>
        </p:nvSpPr>
        <p:spPr>
          <a:xfrm>
            <a:off x="808414" y="4556423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073" name="Text 23">
            <a:extLst>
              <a:ext uri="{FF2B5EF4-FFF2-40B4-BE49-F238E27FC236}">
                <a16:creationId xmlns:a16="http://schemas.microsoft.com/office/drawing/2014/main" id="{C996BD4C-3416-AFBE-B1C8-81D52ADEE86F}"/>
              </a:ext>
            </a:extLst>
          </p:cNvPr>
          <p:cNvSpPr/>
          <p:nvPr/>
        </p:nvSpPr>
        <p:spPr>
          <a:xfrm>
            <a:off x="2386647" y="4556423"/>
            <a:ext cx="3390914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AttendanceDate, CheckIn</a:t>
            </a:r>
            <a:endParaRPr lang="en-US" sz="1100" dirty="0"/>
          </a:p>
        </p:txBody>
      </p:sp>
      <p:sp>
        <p:nvSpPr>
          <p:cNvPr id="2077" name="Text 24">
            <a:extLst>
              <a:ext uri="{FF2B5EF4-FFF2-40B4-BE49-F238E27FC236}">
                <a16:creationId xmlns:a16="http://schemas.microsoft.com/office/drawing/2014/main" id="{6BC63B28-9FB4-3EEF-0C62-1A7A58E2D20C}"/>
              </a:ext>
            </a:extLst>
          </p:cNvPr>
          <p:cNvSpPr/>
          <p:nvPr/>
        </p:nvSpPr>
        <p:spPr>
          <a:xfrm>
            <a:off x="808414" y="5141218"/>
            <a:ext cx="190048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WORKOUT</a:t>
            </a:r>
            <a:endParaRPr lang="en-US" sz="1100" dirty="0"/>
          </a:p>
        </p:txBody>
      </p:sp>
      <p:sp>
        <p:nvSpPr>
          <p:cNvPr id="2081" name="Text 25">
            <a:extLst>
              <a:ext uri="{FF2B5EF4-FFF2-40B4-BE49-F238E27FC236}">
                <a16:creationId xmlns:a16="http://schemas.microsoft.com/office/drawing/2014/main" id="{24959433-E896-5FA5-D1D3-E9743198DBD7}"/>
              </a:ext>
            </a:extLst>
          </p:cNvPr>
          <p:cNvSpPr/>
          <p:nvPr/>
        </p:nvSpPr>
        <p:spPr>
          <a:xfrm>
            <a:off x="2386647" y="5141218"/>
            <a:ext cx="3390914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WorkoutID (PK)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TrainerID (FK)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WorkoutType, Duration</a:t>
            </a:r>
            <a:endParaRPr lang="en-US" sz="1100" dirty="0"/>
          </a:p>
        </p:txBody>
      </p:sp>
      <p:sp>
        <p:nvSpPr>
          <p:cNvPr id="2083" name="Text 26">
            <a:extLst>
              <a:ext uri="{FF2B5EF4-FFF2-40B4-BE49-F238E27FC236}">
                <a16:creationId xmlns:a16="http://schemas.microsoft.com/office/drawing/2014/main" id="{20D8453D-E825-56B1-95A3-1F76AA30BC97}"/>
              </a:ext>
            </a:extLst>
          </p:cNvPr>
          <p:cNvSpPr/>
          <p:nvPr/>
        </p:nvSpPr>
        <p:spPr>
          <a:xfrm>
            <a:off x="661475" y="5782370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* Age is a derived attribute — computed, not stored directly.</a:t>
            </a:r>
            <a:endParaRPr lang="en-US" sz="1100" dirty="0"/>
          </a:p>
        </p:txBody>
      </p:sp>
      <p:sp>
        <p:nvSpPr>
          <p:cNvPr id="2086" name="Text 27">
            <a:extLst>
              <a:ext uri="{FF2B5EF4-FFF2-40B4-BE49-F238E27FC236}">
                <a16:creationId xmlns:a16="http://schemas.microsoft.com/office/drawing/2014/main" id="{504FCF2F-5E0E-F8F6-CE3C-395E843CAE76}"/>
              </a:ext>
            </a:extLst>
          </p:cNvPr>
          <p:cNvSpPr/>
          <p:nvPr/>
        </p:nvSpPr>
        <p:spPr>
          <a:xfrm>
            <a:off x="6273643" y="161667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Relationships (1:M Cardinality)</a:t>
            </a:r>
            <a:endParaRPr lang="en-US" sz="1350" dirty="0"/>
          </a:p>
        </p:txBody>
      </p:sp>
      <p:pic>
        <p:nvPicPr>
          <p:cNvPr id="2088" name="Image 0" descr="preencoded.png">
            <a:extLst>
              <a:ext uri="{FF2B5EF4-FFF2-40B4-BE49-F238E27FC236}">
                <a16:creationId xmlns:a16="http://schemas.microsoft.com/office/drawing/2014/main" id="{70A50FA6-3BC7-3875-BC31-58F6641A9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643" y="1970584"/>
            <a:ext cx="702848" cy="843459"/>
          </a:xfrm>
          <a:prstGeom prst="rect">
            <a:avLst/>
          </a:prstGeom>
        </p:spPr>
      </p:pic>
      <p:sp>
        <p:nvSpPr>
          <p:cNvPr id="2090" name="Text 28">
            <a:extLst>
              <a:ext uri="{FF2B5EF4-FFF2-40B4-BE49-F238E27FC236}">
                <a16:creationId xmlns:a16="http://schemas.microsoft.com/office/drawing/2014/main" id="{A3C29AC5-7CCA-87F3-833A-F62691D987E1}"/>
              </a:ext>
            </a:extLst>
          </p:cNvPr>
          <p:cNvSpPr/>
          <p:nvPr/>
        </p:nvSpPr>
        <p:spPr>
          <a:xfrm>
            <a:off x="7095947" y="2111077"/>
            <a:ext cx="444062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</a:t>
            </a:r>
            <a:endParaRPr lang="en-US" sz="1350" dirty="0"/>
          </a:p>
        </p:txBody>
      </p:sp>
      <p:sp>
        <p:nvSpPr>
          <p:cNvPr id="2092" name="Text 29">
            <a:extLst>
              <a:ext uri="{FF2B5EF4-FFF2-40B4-BE49-F238E27FC236}">
                <a16:creationId xmlns:a16="http://schemas.microsoft.com/office/drawing/2014/main" id="{9E688733-E5FB-0EB3-C718-44163A450E84}"/>
              </a:ext>
            </a:extLst>
          </p:cNvPr>
          <p:cNvSpPr/>
          <p:nvPr/>
        </p:nvSpPr>
        <p:spPr>
          <a:xfrm>
            <a:off x="7095947" y="2450108"/>
            <a:ext cx="444062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 entity — links to Membership, Payment, and Attendance</a:t>
            </a:r>
            <a:endParaRPr lang="en-US" sz="1100" dirty="0"/>
          </a:p>
        </p:txBody>
      </p:sp>
      <p:pic>
        <p:nvPicPr>
          <p:cNvPr id="2094" name="Image 1" descr="preencoded.png">
            <a:extLst>
              <a:ext uri="{FF2B5EF4-FFF2-40B4-BE49-F238E27FC236}">
                <a16:creationId xmlns:a16="http://schemas.microsoft.com/office/drawing/2014/main" id="{0BD5AB11-2354-0663-82F2-E2ED3A27F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643" y="2814042"/>
            <a:ext cx="702848" cy="843459"/>
          </a:xfrm>
          <a:prstGeom prst="rect">
            <a:avLst/>
          </a:prstGeom>
        </p:spPr>
      </p:pic>
      <p:sp>
        <p:nvSpPr>
          <p:cNvPr id="2096" name="Text 30">
            <a:extLst>
              <a:ext uri="{FF2B5EF4-FFF2-40B4-BE49-F238E27FC236}">
                <a16:creationId xmlns:a16="http://schemas.microsoft.com/office/drawing/2014/main" id="{2E83707B-D534-007C-1112-8D08CF6D996B}"/>
              </a:ext>
            </a:extLst>
          </p:cNvPr>
          <p:cNvSpPr/>
          <p:nvPr/>
        </p:nvSpPr>
        <p:spPr>
          <a:xfrm>
            <a:off x="7095947" y="2954536"/>
            <a:ext cx="444062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MEMBERSHIP / PAYMENT / ATTENDANCE</a:t>
            </a:r>
            <a:endParaRPr lang="en-US" sz="1350" dirty="0"/>
          </a:p>
        </p:txBody>
      </p:sp>
      <p:sp>
        <p:nvSpPr>
          <p:cNvPr id="2098" name="Text 31">
            <a:extLst>
              <a:ext uri="{FF2B5EF4-FFF2-40B4-BE49-F238E27FC236}">
                <a16:creationId xmlns:a16="http://schemas.microsoft.com/office/drawing/2014/main" id="{903CADCC-368F-39F7-52D9-EDDF0882C082}"/>
              </a:ext>
            </a:extLst>
          </p:cNvPr>
          <p:cNvSpPr/>
          <p:nvPr/>
        </p:nvSpPr>
        <p:spPr>
          <a:xfrm>
            <a:off x="7095947" y="3293566"/>
            <a:ext cx="4440623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dependent on Member via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(FK)</a:t>
            </a:r>
            <a:endParaRPr lang="en-US" sz="1100" dirty="0"/>
          </a:p>
        </p:txBody>
      </p:sp>
      <p:pic>
        <p:nvPicPr>
          <p:cNvPr id="2100" name="Image 2" descr="preencoded.png">
            <a:extLst>
              <a:ext uri="{FF2B5EF4-FFF2-40B4-BE49-F238E27FC236}">
                <a16:creationId xmlns:a16="http://schemas.microsoft.com/office/drawing/2014/main" id="{AEBAB300-58DB-64DB-7F74-005B01B81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643" y="3791843"/>
            <a:ext cx="702848" cy="843459"/>
          </a:xfrm>
          <a:prstGeom prst="rect">
            <a:avLst/>
          </a:prstGeom>
        </p:spPr>
      </p:pic>
      <p:sp>
        <p:nvSpPr>
          <p:cNvPr id="2102" name="Text 32">
            <a:extLst>
              <a:ext uri="{FF2B5EF4-FFF2-40B4-BE49-F238E27FC236}">
                <a16:creationId xmlns:a16="http://schemas.microsoft.com/office/drawing/2014/main" id="{D7E06736-A22A-1A54-C2D9-A70F018C26B3}"/>
              </a:ext>
            </a:extLst>
          </p:cNvPr>
          <p:cNvSpPr/>
          <p:nvPr/>
        </p:nvSpPr>
        <p:spPr>
          <a:xfrm>
            <a:off x="7095947" y="3932337"/>
            <a:ext cx="444062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TRAINER</a:t>
            </a:r>
            <a:endParaRPr lang="en-US" sz="1350" dirty="0"/>
          </a:p>
        </p:txBody>
      </p:sp>
      <p:sp>
        <p:nvSpPr>
          <p:cNvPr id="2104" name="Text 33">
            <a:extLst>
              <a:ext uri="{FF2B5EF4-FFF2-40B4-BE49-F238E27FC236}">
                <a16:creationId xmlns:a16="http://schemas.microsoft.com/office/drawing/2014/main" id="{564968B8-BFC0-E3E6-CC52-666CC9FFAB81}"/>
              </a:ext>
            </a:extLst>
          </p:cNvPr>
          <p:cNvSpPr/>
          <p:nvPr/>
        </p:nvSpPr>
        <p:spPr>
          <a:xfrm>
            <a:off x="7095947" y="4271367"/>
            <a:ext cx="4440623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Links to Workout via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TrainerID (FK)</a:t>
            </a:r>
            <a:endParaRPr lang="en-US" sz="1100" dirty="0"/>
          </a:p>
        </p:txBody>
      </p:sp>
      <p:pic>
        <p:nvPicPr>
          <p:cNvPr id="2106" name="Image 3" descr="preencoded.png">
            <a:extLst>
              <a:ext uri="{FF2B5EF4-FFF2-40B4-BE49-F238E27FC236}">
                <a16:creationId xmlns:a16="http://schemas.microsoft.com/office/drawing/2014/main" id="{02163112-B4D8-EFFD-A44B-F3E09DF8F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643" y="4635302"/>
            <a:ext cx="702848" cy="843459"/>
          </a:xfrm>
          <a:prstGeom prst="rect">
            <a:avLst/>
          </a:prstGeom>
        </p:spPr>
      </p:pic>
      <p:sp>
        <p:nvSpPr>
          <p:cNvPr id="2108" name="Text 34">
            <a:extLst>
              <a:ext uri="{FF2B5EF4-FFF2-40B4-BE49-F238E27FC236}">
                <a16:creationId xmlns:a16="http://schemas.microsoft.com/office/drawing/2014/main" id="{B37A5A24-99C0-0300-B601-DF00664004E6}"/>
              </a:ext>
            </a:extLst>
          </p:cNvPr>
          <p:cNvSpPr/>
          <p:nvPr/>
        </p:nvSpPr>
        <p:spPr>
          <a:xfrm>
            <a:off x="7095947" y="4775795"/>
            <a:ext cx="444062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WORKOUT</a:t>
            </a:r>
            <a:endParaRPr lang="en-US" sz="1350" dirty="0"/>
          </a:p>
        </p:txBody>
      </p:sp>
      <p:sp>
        <p:nvSpPr>
          <p:cNvPr id="2110" name="Text 35">
            <a:extLst>
              <a:ext uri="{FF2B5EF4-FFF2-40B4-BE49-F238E27FC236}">
                <a16:creationId xmlns:a16="http://schemas.microsoft.com/office/drawing/2014/main" id="{1FAC1662-6526-8567-A268-2E6CA0BE184C}"/>
              </a:ext>
            </a:extLst>
          </p:cNvPr>
          <p:cNvSpPr/>
          <p:nvPr/>
        </p:nvSpPr>
        <p:spPr>
          <a:xfrm>
            <a:off x="7095947" y="5114826"/>
            <a:ext cx="444062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workout record belongs to one trainer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20646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FF003-5E86-4BFA-3EBD-51EEF8E3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97ECEC33-873B-DEC1-DC9A-3522B233A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1830835-ACF2-BAED-68F4-A1760EB75BFD}"/>
              </a:ext>
            </a:extLst>
          </p:cNvPr>
          <p:cNvGrpSpPr/>
          <p:nvPr/>
        </p:nvGrpSpPr>
        <p:grpSpPr>
          <a:xfrm>
            <a:off x="2928035" y="136524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79C0BA7-03F4-6982-8BBF-DC3992606659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BDEE5178-46EB-3A4E-4595-3801DE52D23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62015EFC-9F42-9AC8-6C00-B99589B26ABF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97CF5C-FCF2-547D-5FD9-6FD471305F3B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TABLE DATA</a:t>
              </a:r>
              <a:endParaRPr sz="2400" b="1" dirty="0">
                <a:latin typeface="Book Antiqua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677-CBBC-11CB-58FA-FC3E12D9B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59" y="1152904"/>
            <a:ext cx="3467400" cy="2514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F4FC4B-D59D-761F-0064-A4EF83C59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559" y="1041282"/>
            <a:ext cx="4282811" cy="2514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82B33C-A85F-3A80-FF66-3C6DDB602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86" y="4221899"/>
            <a:ext cx="2560542" cy="24995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E2D48-BC93-234B-E7B1-B91BBB8D3E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2964" y="4233329"/>
            <a:ext cx="3642676" cy="24767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56B5AC-5078-C368-0B6C-4A95C5E16FA5}"/>
              </a:ext>
            </a:extLst>
          </p:cNvPr>
          <p:cNvSpPr txBox="1"/>
          <p:nvPr/>
        </p:nvSpPr>
        <p:spPr>
          <a:xfrm>
            <a:off x="518319" y="85661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MEMBER: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8480F-D942-598E-ADAC-27F267A18B15}"/>
              </a:ext>
            </a:extLst>
          </p:cNvPr>
          <p:cNvSpPr txBox="1"/>
          <p:nvPr/>
        </p:nvSpPr>
        <p:spPr>
          <a:xfrm>
            <a:off x="7114503" y="708166"/>
            <a:ext cx="1539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MEMBERSHIP: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594548-E02A-F85A-1433-16958DB1FAFF}"/>
              </a:ext>
            </a:extLst>
          </p:cNvPr>
          <p:cNvSpPr txBox="1"/>
          <p:nvPr/>
        </p:nvSpPr>
        <p:spPr>
          <a:xfrm>
            <a:off x="572821" y="3950217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TRAINER: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7D1D0-7B82-6C5E-FDD9-7F98D37B952F}"/>
              </a:ext>
            </a:extLst>
          </p:cNvPr>
          <p:cNvSpPr txBox="1"/>
          <p:nvPr/>
        </p:nvSpPr>
        <p:spPr>
          <a:xfrm>
            <a:off x="7114503" y="3852567"/>
            <a:ext cx="1132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175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7BD1-0A71-FEDE-A04C-AACA0AF2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9310548-CB0C-0309-73F7-81C21D5A6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66C835A-34FE-BBE0-6EA8-A2F191986523}"/>
              </a:ext>
            </a:extLst>
          </p:cNvPr>
          <p:cNvGrpSpPr/>
          <p:nvPr/>
        </p:nvGrpSpPr>
        <p:grpSpPr>
          <a:xfrm>
            <a:off x="2928035" y="136524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22AA761-FBFA-193C-A79A-343D55CAF4B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286C9164-AEE7-8805-EE34-DF713B57D9B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1A6FC152-0983-43C3-1283-A715AEB6A70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F81DAE-B900-66BC-B1FC-EC5BBDAD84E9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TABLE DATA</a:t>
              </a:r>
              <a:endParaRPr sz="2400" b="1" dirty="0">
                <a:latin typeface="Book Antiqua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79D063-AFB6-B621-9D43-4FE7A6F9E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8" y="1196752"/>
            <a:ext cx="4115157" cy="2552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AC48AC-E6DF-7435-1BE6-F8C95F683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48" y="1196752"/>
            <a:ext cx="4534293" cy="2491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2D5E8A-FD61-C5B5-E792-3428A82AA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532" y="4123603"/>
            <a:ext cx="1257409" cy="24843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070495-BB7C-3C6A-890E-0F91D9DCF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336" y="4123603"/>
            <a:ext cx="1272650" cy="24767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392B8A-F7BA-D183-DADA-B975EAE0FD01}"/>
              </a:ext>
            </a:extLst>
          </p:cNvPr>
          <p:cNvSpPr txBox="1"/>
          <p:nvPr/>
        </p:nvSpPr>
        <p:spPr>
          <a:xfrm>
            <a:off x="661427" y="904066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ATTENDANCE: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FF78A5-276F-61C4-5F1D-F7C028B3A240}"/>
              </a:ext>
            </a:extLst>
          </p:cNvPr>
          <p:cNvSpPr txBox="1"/>
          <p:nvPr/>
        </p:nvSpPr>
        <p:spPr>
          <a:xfrm>
            <a:off x="6426549" y="866281"/>
            <a:ext cx="1233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WORKOUT: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6D911-D079-967B-0CDA-0CFB08D0EEA7}"/>
              </a:ext>
            </a:extLst>
          </p:cNvPr>
          <p:cNvSpPr txBox="1"/>
          <p:nvPr/>
        </p:nvSpPr>
        <p:spPr>
          <a:xfrm>
            <a:off x="304800" y="4042359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MEMBER_PHONE: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50972-BE76-978B-02AF-B44965A2617B}"/>
              </a:ext>
            </a:extLst>
          </p:cNvPr>
          <p:cNvSpPr txBox="1"/>
          <p:nvPr/>
        </p:nvSpPr>
        <p:spPr>
          <a:xfrm>
            <a:off x="7008575" y="4042359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TRAINER_PHONE: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915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94360" y="1188720"/>
            <a:ext cx="3474720" cy="1828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7074"/>
                </a:solidFill>
              </a:defRPr>
            </a:pPr>
            <a:r>
              <a:t>1NF — Atomic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323"/>
                </a:solidFill>
              </a:defRPr>
            </a:pPr>
            <a:r>
              <a:rPr dirty="0"/>
              <a:t>Single value in each field.</a:t>
            </a:r>
            <a:br>
              <a:rPr dirty="0"/>
            </a:br>
            <a:r>
              <a:rPr dirty="0"/>
              <a:t>No repeating groups.</a:t>
            </a:r>
            <a:br>
              <a:rPr dirty="0"/>
            </a:br>
            <a:r>
              <a:rPr dirty="0"/>
              <a:t>Member and membership details are atomic.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188720"/>
            <a:ext cx="3474720" cy="1828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8848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7074"/>
                </a:solidFill>
              </a:defRPr>
            </a:pPr>
            <a:r>
              <a:t>2NF — Separate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645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323"/>
                </a:solidFill>
              </a:defRPr>
            </a:pPr>
            <a:r>
              <a:rPr dirty="0"/>
              <a:t>Member attributes depend on </a:t>
            </a:r>
            <a:r>
              <a:rPr dirty="0" err="1"/>
              <a:t>MemberID</a:t>
            </a:r>
            <a:r>
              <a:rPr dirty="0"/>
              <a:t>.</a:t>
            </a:r>
            <a:br>
              <a:rPr dirty="0"/>
            </a:br>
            <a:r>
              <a:rPr dirty="0"/>
              <a:t>Membership attributes depend on </a:t>
            </a:r>
            <a:r>
              <a:rPr dirty="0" err="1"/>
              <a:t>MembershipID</a:t>
            </a:r>
            <a:r>
              <a:rPr dirty="0"/>
              <a:t>.</a:t>
            </a:r>
            <a:br>
              <a:rPr dirty="0"/>
            </a:br>
            <a:r>
              <a:rPr dirty="0"/>
              <a:t>Redundancy is reduced.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9016" y="1188720"/>
            <a:ext cx="3474720" cy="1828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66176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7074"/>
                </a:solidFill>
              </a:defRPr>
            </a:pPr>
            <a:r>
              <a:t>3NF — Final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645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323"/>
                </a:solidFill>
              </a:defRPr>
            </a:pPr>
            <a:r>
              <a:t>Keep entity attributes with their entity.</a:t>
            </a:r>
            <a:br/>
            <a:r>
              <a:t>Use primary and foreign keys for relationships.</a:t>
            </a:r>
            <a:br/>
            <a:r>
              <a:t>Improves integrity.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048"/>
                </a:solidFill>
              </a:defRPr>
            </a:pPr>
            <a:r>
              <a:t>Final project database tables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934422"/>
              </p:ext>
            </p:extLst>
          </p:nvPr>
        </p:nvGraphicFramePr>
        <p:xfrm>
          <a:off x="640080" y="37947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Primary Key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MEMBER_PHONE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 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MemberID + 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TRAINER_PHONE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 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TrainerID + Phone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Membership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MembershipID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PAYMENT / ATTENDANCE / WORKOUT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Transactions &amp; training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Own ID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836B15A9-5AEB-C922-2126-0DC7379F90F3}"/>
              </a:ext>
            </a:extLst>
          </p:cNvPr>
          <p:cNvGrpSpPr/>
          <p:nvPr/>
        </p:nvGrpSpPr>
        <p:grpSpPr>
          <a:xfrm>
            <a:off x="3735209" y="90804"/>
            <a:ext cx="5199965" cy="1235076"/>
            <a:chOff x="13004829" y="1407596"/>
            <a:chExt cx="6837727" cy="190935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29B73E-00A9-9351-AB6B-B7790358D05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8" name="object 3">
                <a:extLst>
                  <a:ext uri="{FF2B5EF4-FFF2-40B4-BE49-F238E27FC236}">
                    <a16:creationId xmlns:a16="http://schemas.microsoft.com/office/drawing/2014/main" id="{9D86EFB3-6CD4-BA4F-6E33-63D4AAD0778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2A01D5C3-6765-7E3C-125C-F59E483CEB61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905E6E-F7EE-2A99-C2CC-DAA68BAE1461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NORMALIZATION</a:t>
              </a:r>
              <a:endParaRPr sz="2400" b="1" dirty="0">
                <a:latin typeface="Book Antiqu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6160" y="320040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First Normal 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781747"/>
              </p:ext>
            </p:extLst>
          </p:nvPr>
        </p:nvGraphicFramePr>
        <p:xfrm>
          <a:off x="1645920" y="1051560"/>
          <a:ext cx="8915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MEMBERSHIP_ID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FIRSTNAME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LASTNAME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STARTDATE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ENDDATE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Aarav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Sharma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01-Jul-26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01-Aug-26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Ananya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Reddy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Quarterly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03-Jul-26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03-Oct-26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Rahul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Kumar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05-Jul-26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05-Jul-27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Priya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Nair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07-Jul-26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07-Aug-26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Vikram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Patel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Half-Yearly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10-Jan-27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91640" y="3749039"/>
            <a:ext cx="9144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Courier New"/>
              </a:defRPr>
            </a:pPr>
            <a:r>
              <a:t>FIRST(MEMBER_ID, MEMBERSHIP_ID, FIRSTNAME, LASTNAME, GENDER, DOB,</a:t>
            </a:r>
            <a:br/>
            <a:r>
              <a:t>       PLAN, STARTDATE, ENDDATE, ASSIGNEDDATE)</a:t>
            </a:r>
            <a:br/>
            <a:br/>
            <a:r>
              <a:t>PRIMARY KEY (MEMBER_ID, MEMBERSHIP_ID)</a:t>
            </a:r>
            <a:br/>
            <a:br/>
            <a:r>
              <a:t>FD: MEMBER_ID → FIRSTNAME, LASTNAME, GENDER, DOB</a:t>
            </a:r>
            <a:br/>
            <a:r>
              <a:t>    MEMBERSHIP_ID → PLAN, STARTDATE, ENDDATE, ASSIGNEDDATE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7492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D5712"/>
                </a:solidFill>
              </a:defRPr>
            </a:pPr>
            <a:r>
              <a:t>All values are atomic, so the relation satisfies 1NF. However, the composite key creates partial 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8282"/>
                </a:solidFill>
              </a:defRPr>
            </a:pPr>
            <a:r>
              <a:t>DBMS  |  Gym Membership Management System                                        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6160" y="320040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Second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A relation is in 2NF when it is in 1NF and no non-key attribute depends on only part of a composite key.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20386"/>
              </p:ext>
            </p:extLst>
          </p:nvPr>
        </p:nvGraphicFramePr>
        <p:xfrm>
          <a:off x="731520" y="1417320"/>
          <a:ext cx="4892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FIRSTNAME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LASTNAME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DOB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Aarav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Sharma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15-Jan-00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Ananya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Reddy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20-Mar-01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Rahul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Kumar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05-Jun-99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Priya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Nair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12-Aug-02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Vikram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Patel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25-Oct-00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05226"/>
              </p:ext>
            </p:extLst>
          </p:nvPr>
        </p:nvGraphicFramePr>
        <p:xfrm>
          <a:off x="6172200" y="1417320"/>
          <a:ext cx="5257800" cy="2074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MEMBERSHIP_ID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STARTDATE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ENDDATE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01-Jul-26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01-Aug-26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Quarterly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03-Jul-26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03-Oct-26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05-Jul-27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07-Jul-26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07-Aug-26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Half-Yearly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10-Jan-27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79476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323"/>
                </a:solidFill>
                <a:latin typeface="Courier New"/>
              </a:defRPr>
            </a:pPr>
            <a:r>
              <a:t>MEMBER(MEMBER_ID, FIRSTNAME, LASTNAME, GENDER, DOB)</a:t>
            </a:r>
            <a:br/>
            <a:r>
              <a:t>PRIMARY KEY (MEMBER_ID)</a:t>
            </a:r>
            <a:br/>
            <a:br/>
            <a:r>
              <a:t>MEMBERSHIP(MEMBERSHIP_ID, MEMBER_ID, PLAN, STARTDATE, ENDDATE, ASSIGNEDDATE)</a:t>
            </a:r>
            <a:br/>
            <a:r>
              <a:t>PRIMARY KEY (MEMBERSHIP_ID)</a:t>
            </a:r>
            <a:br/>
            <a:r>
              <a:t>FOREIGN KEY (MEMBER_ID) REFERENCES MEMBER(MEMBER_ID)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376" y="50977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D5712"/>
                </a:solidFill>
              </a:defRPr>
            </a:pPr>
            <a:r>
              <a:rPr dirty="0"/>
              <a:t>Change: member attributes depend on MEMBER_ID, while membership attributes depend on MEMBERSHIP_ID. Partial dependency is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8282"/>
                </a:solidFill>
              </a:defRPr>
            </a:pPr>
            <a:r>
              <a:t>DBMS  |  Gym Membership Management System                                         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6160" y="320040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Third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86868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No non-key attribute depends on another non-key attribute. The final relations therefore remain separate.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77642"/>
              </p:ext>
            </p:extLst>
          </p:nvPr>
        </p:nvGraphicFramePr>
        <p:xfrm>
          <a:off x="594360" y="1325880"/>
          <a:ext cx="54406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FIRSTNAME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LASTNAME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DOB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Aarav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Sharma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15-Jan-00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Ananya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Reddy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20-Mar-01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Rahul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Kumar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05-Jun-99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Priya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Nair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12-Aug-02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57397"/>
              </p:ext>
            </p:extLst>
          </p:nvPr>
        </p:nvGraphicFramePr>
        <p:xfrm>
          <a:off x="6217920" y="1325880"/>
          <a:ext cx="53949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MEMBERSHIP_ID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STARTDATE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ENDDATE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01-Jul-26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01-Aug-26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Quarterly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03-Jul-26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03-Oct-26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05-Jul-27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07-Jul-26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07-Aug-26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54857"/>
              </p:ext>
            </p:extLst>
          </p:nvPr>
        </p:nvGraphicFramePr>
        <p:xfrm>
          <a:off x="594360" y="3657600"/>
          <a:ext cx="5440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PAYMENT_ID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PAYMENTDATE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1500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01-Jul-26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UPI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4000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03-Jul-26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Card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05-Jul-26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UPI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1500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07-Jul-26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Cash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000754"/>
              </p:ext>
            </p:extLst>
          </p:nvPr>
        </p:nvGraphicFramePr>
        <p:xfrm>
          <a:off x="6217920" y="3657600"/>
          <a:ext cx="5394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TRAINER_ID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TRAINERNAME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SPECIALIZATION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Vivek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Strength Training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Megha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Yoga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Ritesh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Cardio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Anita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Weight Loss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7667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32323"/>
                </a:solidFill>
                <a:latin typeface="Courier New"/>
              </a:defRPr>
            </a:pPr>
            <a:r>
              <a:t>FD: MEMBER_ID → member details     |     MEMBERSHIP_ID → membership details</a:t>
            </a:r>
            <a:br/>
            <a:r>
              <a:t>    PAYMENT_ID → payment details    |     TRAINER_ID → trainer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CD5712"/>
                </a:solidFill>
              </a:defRPr>
            </a:pPr>
            <a:r>
              <a:t>Result: no transitive dependency remains, so the 2NF relations are already in 3NF. The remaining tables follow the same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8282"/>
                </a:solidFill>
              </a:defRPr>
            </a:pPr>
            <a:r>
              <a:t>DBMS  |  Gym Membership Management System                                         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67160" y="155448"/>
            <a:ext cx="320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60120"/>
            <a:ext cx="57150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3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60120"/>
            <a:ext cx="5715000" cy="566928"/>
          </a:xfrm>
          <a:prstGeom prst="roundRect">
            <a:avLst/>
          </a:prstGeom>
          <a:solidFill>
            <a:srgbClr val="308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42416"/>
            <a:ext cx="5458968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1. MEMBER 1 — has — N MEMBER_PHONE / MEMBERSHIP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5385816" cy="4197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82734"/>
                </a:solidFill>
                <a:latin typeface="Courier New"/>
              </a:rPr>
              <a:t>-- MEMBER TABLE
CREATE TABLE MEMBER (
  MemberID NUMBER(5) PRIMARY KEY,
  FirstName VARCHAR2(30) NOT NULL,
  LastName VARCHAR2(30) NOT NULL,
  Gender CHAR(1) CHECK (Gender IN ('M','F')),
  DOB DATE NOT NULL
);
-- MEMBER_PHONE
CREATE TABLE MEMBER_PHONE (
  MemberID NUMBER(5),
  Phone VARCHAR2(15),
  PRIMARY KEY (MemberID, Phone),
  FOREIGN KEY (MemberID)
    REFERENCES MEMBER(MemberID)
);
-- MEMBERSHIP
CREATE TABLE MEMBERSHIP (
  MembershipID NUMBER(5) PRIMARY KEY,
  MemberID NUMBER(5) NOT NULL,
  Plan VARCHAR2(20) NOT NULL,
  StartDate DATE NOT NULL,
  EndDate DATE NOT NULL,
  AssignedDate DATE NOT NULL,
  FOREIGN KEY (MemberID)
    REFERENCES MEMBER(MemberID)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60120"/>
            <a:ext cx="5696712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3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44768" y="960120"/>
            <a:ext cx="5696712" cy="566928"/>
          </a:xfrm>
          <a:prstGeom prst="roundRect">
            <a:avLst/>
          </a:prstGeom>
          <a:solidFill>
            <a:srgbClr val="308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2783" y="1042416"/>
            <a:ext cx="544068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2. TRAINER 1 — has — N TRAINER_PHONE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645920"/>
            <a:ext cx="5367528" cy="4197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182734"/>
                </a:solidFill>
                <a:latin typeface="Courier New"/>
              </a:rPr>
              <a:t>-- TRAINER TABLE
CREATE TABLE TRAINER (
  TrainerID NUMBER(5) PRIMARY KEY,
  TrainerName VARCHAR2(40) NOT NULL,
  Specialization VARCHAR2(40) NOT NULL
);
-- TRAINER_PHONE
CREATE TABLE TRAINER_PHONE (
  TrainerID NUMBER(5),
  Phone VARCHAR2(15),
  PRIMARY KEY (TrainerID, Phone),
  FOREIGN KEY (TrainerID)
    REFERENCES TRAINER(TrainerID)
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6016752"/>
            <a:ext cx="11494008" cy="384048"/>
          </a:xfrm>
          <a:prstGeom prst="roundRect">
            <a:avLst/>
          </a:prstGeom>
          <a:solidFill>
            <a:srgbClr val="182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089904"/>
            <a:ext cx="11155680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Relationships: MEMBER → MEMBER_PHONE (1:N) | MEMBER → MEMBERSHIP (1:N) | TRAINER → TRAINER_PHONE (1:N)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5C90B1"/>
                </a:solidFill>
                <a:latin typeface="Aptos"/>
              </a:rPr>
              <a:t>GYM MEMBERSHIP MANAGEMENT SYSTEM  |  Foreign Key Relationships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A9DD3F-479E-B754-E0AA-867C9D4DD790}"/>
              </a:ext>
            </a:extLst>
          </p:cNvPr>
          <p:cNvGrpSpPr/>
          <p:nvPr/>
        </p:nvGrpSpPr>
        <p:grpSpPr>
          <a:xfrm>
            <a:off x="2912371" y="100266"/>
            <a:ext cx="6793975" cy="1235076"/>
            <a:chOff x="13004829" y="1407596"/>
            <a:chExt cx="8933781" cy="190935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C7AC9FD-FB0E-D019-EC43-78B1DDC70469}"/>
                </a:ext>
              </a:extLst>
            </p:cNvPr>
            <p:cNvGrpSpPr/>
            <p:nvPr/>
          </p:nvGrpSpPr>
          <p:grpSpPr>
            <a:xfrm>
              <a:off x="13004829" y="1407596"/>
              <a:ext cx="8933781" cy="1909355"/>
              <a:chOff x="4704978" y="719582"/>
              <a:chExt cx="5027865" cy="1077033"/>
            </a:xfrm>
          </p:grpSpPr>
          <p:pic>
            <p:nvPicPr>
              <p:cNvPr id="19" name="object 3">
                <a:extLst>
                  <a:ext uri="{FF2B5EF4-FFF2-40B4-BE49-F238E27FC236}">
                    <a16:creationId xmlns:a16="http://schemas.microsoft.com/office/drawing/2014/main" id="{68B5B652-4AF0-FBD2-4676-040AEE8326B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5027865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78EEFD52-3BAC-D7E6-A4D1-1DED3454555B}"/>
                  </a:ext>
                </a:extLst>
              </p:cNvPr>
              <p:cNvSpPr/>
              <p:nvPr/>
            </p:nvSpPr>
            <p:spPr>
              <a:xfrm>
                <a:off x="4832250" y="884263"/>
                <a:ext cx="4515620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32E11-4AED-DE63-BE2F-A3F260E37630}"/>
                </a:ext>
              </a:extLst>
            </p:cNvPr>
            <p:cNvSpPr/>
            <p:nvPr/>
          </p:nvSpPr>
          <p:spPr>
            <a:xfrm>
              <a:off x="13714231" y="1699541"/>
              <a:ext cx="7514976" cy="6185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Aptos"/>
                </a:rPr>
                <a:t>1–4. Member &amp; Trainer → Phone / Membership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B39D195-99B8-EBEE-34A5-2B53413AC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0" t="11187"/>
          <a:stretch>
            <a:fillRect/>
          </a:stretch>
        </p:blipFill>
        <p:spPr>
          <a:xfrm>
            <a:off x="3451858" y="2734490"/>
            <a:ext cx="2606337" cy="8091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114AA4-336E-787D-F4C6-1B9E32F89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581" y="3532601"/>
            <a:ext cx="1317236" cy="8073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67160" y="155448"/>
            <a:ext cx="320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60120"/>
            <a:ext cx="57150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3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60120"/>
            <a:ext cx="5715000" cy="566928"/>
          </a:xfrm>
          <a:prstGeom prst="roundRect">
            <a:avLst/>
          </a:prstGeom>
          <a:solidFill>
            <a:srgbClr val="308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42416"/>
            <a:ext cx="5458968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3. MEMBER 1 — makes — N PAYMENT / records — N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5385816" cy="4197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25" b="0">
                <a:solidFill>
                  <a:srgbClr val="182734"/>
                </a:solidFill>
                <a:latin typeface="Courier New"/>
              </a:rPr>
              <a:t>-- PAYMENT TABLE
CREATE TABLE PAYMENT (
  PaymentID NUMBER(5) PRIMARY KEY,
  MemberID NUMBER(5) NOT NULL,
  Amount NUMBER(10,2) CHECK (Amount &gt; 0),
  PaymentDate DATE NOT NULL,
  PaymentMode VARCHAR2(15),
  FOREIGN KEY (MemberID)
    REFERENCES MEMBER(MemberID),
  CHECK (PaymentMode IN ('Cash','UPI','Card'))
);
-- ATTENDANCE TABLE
CREATE TABLE ATTENDANCE (
  AttendanceID NUMBER(5) PRIMARY KEY,
  MemberID NUMBER(5) NOT NULL,
  AttendanceDate DATE NOT NULL,
  CheckIn VARCHAR2(8) NOT NULL,
  CheckInType VARCHAR2(15),
  FOREIGN KEY (MemberID)
    REFERENCES MEMBER(MemberID),
  CHECK (CheckInType IN ('Regular','Trainer'))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60120"/>
            <a:ext cx="5696712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3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44768" y="960120"/>
            <a:ext cx="5696712" cy="566928"/>
          </a:xfrm>
          <a:prstGeom prst="roundRect">
            <a:avLst/>
          </a:prstGeom>
          <a:solidFill>
            <a:srgbClr val="308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2783" y="1042416"/>
            <a:ext cx="544068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4. TRAINER 1 — conducts — N WORKOUT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645920"/>
            <a:ext cx="5367528" cy="4197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182734"/>
                </a:solidFill>
                <a:latin typeface="Courier New"/>
              </a:rPr>
              <a:t>-- WORKOUT TABLE
CREATE TABLE WORKOUT (
  WorkoutID NUMBER(5) PRIMARY KEY,
  TrainerID NUMBER(5) NOT NULL,
  WorkoutType VARCHAR2(40) NOT NULL,
  DurationWeeks NUMBER(3)
    CHECK (DurationWeeks &gt; 0),
  FromDate DATE NOT NULL,
  ToDate DATE NOT NULL,
  FOREIGN KEY (TrainerID)
    REFERENCES TRAINER(TrainerID),
  CHECK (ToDate &gt;= FromDate)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CARDINALITY SUMMARY  •  MEMBER → PAYMENT 1:N  •  MEMBER → ATTENDANCE 1:N  •  TRAINER → WORKOUT 1:N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5980176"/>
            <a:ext cx="11494008" cy="457200"/>
          </a:xfrm>
          <a:prstGeom prst="roundRect">
            <a:avLst/>
          </a:prstGeom>
          <a:solidFill>
            <a:srgbClr val="182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080760"/>
            <a:ext cx="1115568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CARDINALITY SUMMARY  •  MEMBER → PAYMENT 1:N  •  MEMBER → ATTENDANCE 1:N  •  TRAINER → WORKOUT 1:N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5C90B1"/>
                </a:solidFill>
                <a:latin typeface="Aptos"/>
              </a:rPr>
              <a:t>GYM MEMBERSHIP MANAGEMENT SYSTEM  |  Primary Keys + Foreign Keys + Constraints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7B0405-3DEF-C79E-BB8F-41C8C7CF009D}"/>
              </a:ext>
            </a:extLst>
          </p:cNvPr>
          <p:cNvGrpSpPr/>
          <p:nvPr/>
        </p:nvGrpSpPr>
        <p:grpSpPr>
          <a:xfrm>
            <a:off x="2999656" y="94668"/>
            <a:ext cx="6793975" cy="1235076"/>
            <a:chOff x="13004829" y="1407596"/>
            <a:chExt cx="8933781" cy="190935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EE586B-3DA7-2503-3110-645C1F619513}"/>
                </a:ext>
              </a:extLst>
            </p:cNvPr>
            <p:cNvGrpSpPr/>
            <p:nvPr/>
          </p:nvGrpSpPr>
          <p:grpSpPr>
            <a:xfrm>
              <a:off x="13004829" y="1407596"/>
              <a:ext cx="8933781" cy="1909355"/>
              <a:chOff x="4704978" y="719582"/>
              <a:chExt cx="5027865" cy="1077033"/>
            </a:xfrm>
          </p:grpSpPr>
          <p:pic>
            <p:nvPicPr>
              <p:cNvPr id="20" name="object 3">
                <a:extLst>
                  <a:ext uri="{FF2B5EF4-FFF2-40B4-BE49-F238E27FC236}">
                    <a16:creationId xmlns:a16="http://schemas.microsoft.com/office/drawing/2014/main" id="{8F689BD8-FD40-7686-8C62-690D5896147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5027865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1" name="object 4">
                <a:extLst>
                  <a:ext uri="{FF2B5EF4-FFF2-40B4-BE49-F238E27FC236}">
                    <a16:creationId xmlns:a16="http://schemas.microsoft.com/office/drawing/2014/main" id="{2548E055-8840-B153-4482-06A0985B17F1}"/>
                  </a:ext>
                </a:extLst>
              </p:cNvPr>
              <p:cNvSpPr/>
              <p:nvPr/>
            </p:nvSpPr>
            <p:spPr>
              <a:xfrm>
                <a:off x="4832250" y="884263"/>
                <a:ext cx="4515620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37B47F-289E-A3A4-FD01-303D2C9B61D3}"/>
                </a:ext>
              </a:extLst>
            </p:cNvPr>
            <p:cNvSpPr/>
            <p:nvPr/>
          </p:nvSpPr>
          <p:spPr>
            <a:xfrm>
              <a:off x="13279455" y="1748940"/>
              <a:ext cx="8384528" cy="5709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ptos"/>
                </a:rPr>
                <a:t>5–8. Member → Payment / Attendance &amp; Trainer → Workout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43F1109-C95B-E095-2DBB-91F82E5B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56"/>
          <a:stretch>
            <a:fillRect/>
          </a:stretch>
        </p:blipFill>
        <p:spPr>
          <a:xfrm>
            <a:off x="9273431" y="4050621"/>
            <a:ext cx="2106020" cy="13107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31CF0F-6E3E-9D84-5CDB-A3DFBAC11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25" r="40344"/>
          <a:stretch>
            <a:fillRect/>
          </a:stretch>
        </p:blipFill>
        <p:spPr>
          <a:xfrm>
            <a:off x="6309359" y="4391823"/>
            <a:ext cx="2964072" cy="9434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C62A13-4E4E-B87C-6A68-B91237461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192" y="5096782"/>
            <a:ext cx="2758754" cy="8315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1. Display all members.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MEMBER;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64208"/>
            <a:ext cx="5230368" cy="4434840"/>
          </a:xfrm>
          <a:prstGeom prst="rect">
            <a:avLst/>
          </a:prstGeom>
          <a:solidFill>
            <a:srgbClr val="F5F6F8"/>
          </a:solidFill>
          <a:ln w="19050"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65392" y="1920240"/>
            <a:ext cx="4718304" cy="3931920"/>
          </a:xfrm>
          <a:prstGeom prst="rect">
            <a:avLst/>
          </a:prstGeom>
          <a:noFill/>
          <a:ln w="12700"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E6E6E"/>
                </a:solidFill>
                <a:latin typeface="Arial"/>
              </a:defRPr>
            </a:pPr>
            <a:r>
              <a:t>PASTE ORACLE APEX</a:t>
            </a:r>
            <a:br/>
            <a:r>
              <a:t>OUTPUT SCREENSHOT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8862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E6E6E"/>
                </a:solidFill>
                <a:latin typeface="Arial"/>
              </a:defRPr>
            </a:pPr>
            <a:r>
              <a:t>Replace this box with the screenshot of your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57400" y="5766805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t>Displays all records from the MEMBER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5657E2-E866-EB05-3F93-07FF93F2C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219" y="1664208"/>
            <a:ext cx="5272941" cy="42397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2. Display female members.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t>SELECT MemberID,</a:t>
            </a:r>
            <a:br/>
            <a:r>
              <a:t>       FirstName,</a:t>
            </a:r>
            <a:br/>
            <a:r>
              <a:t>       LastName,</a:t>
            </a:r>
            <a:br/>
            <a:r>
              <a:t>       Gender</a:t>
            </a:r>
            <a:br/>
            <a:r>
              <a:t>FROM MEMBER</a:t>
            </a:r>
            <a:br/>
            <a:r>
              <a:t>WHERE Gender = 'F';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E6E6E"/>
                </a:solidFill>
                <a:latin typeface="Arial"/>
              </a:defRPr>
            </a:pPr>
            <a:r>
              <a:t>PASTE ORACLE APEX</a:t>
            </a:r>
            <a:br/>
            <a:r>
              <a:t>OUTPUT SCREENSHOT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8862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E6E6E"/>
                </a:solidFill>
                <a:latin typeface="Arial"/>
              </a:defRPr>
            </a:pPr>
            <a:r>
              <a:t>Replace this box with the screenshot of your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68896" y="5687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rPr dirty="0"/>
              <a:t>Uses WHERE to filter only female members.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0F876D-5EB7-4D39-13C6-BC257F086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2140148"/>
            <a:ext cx="5375869" cy="25777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3. Display member names with their membership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rPr dirty="0"/>
              <a:t>SELECT </a:t>
            </a:r>
            <a:r>
              <a:rPr dirty="0" err="1"/>
              <a:t>M.FirstName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M.LastName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MS.Plan</a:t>
            </a:r>
            <a:br>
              <a:rPr dirty="0"/>
            </a:br>
            <a:r>
              <a:rPr dirty="0"/>
              <a:t>FROM MEMBER M</a:t>
            </a:r>
            <a:br>
              <a:rPr dirty="0"/>
            </a:br>
            <a:r>
              <a:rPr dirty="0"/>
              <a:t>JOIN MEMBERSHIP MS</a:t>
            </a:r>
            <a:br>
              <a:rPr dirty="0"/>
            </a:br>
            <a:r>
              <a:rPr dirty="0"/>
              <a:t>ON </a:t>
            </a:r>
            <a:r>
              <a:rPr dirty="0" err="1"/>
              <a:t>M.MemberID</a:t>
            </a:r>
            <a:r>
              <a:rPr dirty="0"/>
              <a:t> = </a:t>
            </a:r>
            <a:r>
              <a:rPr dirty="0" err="1"/>
              <a:t>MS.MemberID</a:t>
            </a:r>
            <a:r>
              <a:rPr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57400" y="5686489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rPr dirty="0"/>
              <a:t>JOIN combines MEMBER and MEMBERSHIP using </a:t>
            </a:r>
            <a:r>
              <a:rPr dirty="0" err="1"/>
              <a:t>MemberID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6ABCC8-672F-6336-3E3D-3703CB695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1709928"/>
            <a:ext cx="3344182" cy="42691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4. Display members with their payment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rPr dirty="0"/>
              <a:t>SELECT </a:t>
            </a:r>
            <a:r>
              <a:rPr dirty="0" err="1"/>
              <a:t>M.FirstName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M.LastName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P.Amount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P.PaymentMode</a:t>
            </a:r>
            <a:br>
              <a:rPr dirty="0"/>
            </a:br>
            <a:r>
              <a:rPr dirty="0"/>
              <a:t>FROM MEMBER M</a:t>
            </a:r>
            <a:br>
              <a:rPr dirty="0"/>
            </a:br>
            <a:r>
              <a:rPr dirty="0"/>
              <a:t>JOIN PAYMENT P</a:t>
            </a:r>
            <a:br>
              <a:rPr dirty="0"/>
            </a:br>
            <a:r>
              <a:rPr dirty="0"/>
              <a:t>ON </a:t>
            </a:r>
            <a:r>
              <a:rPr dirty="0" err="1"/>
              <a:t>M.MemberID</a:t>
            </a:r>
            <a:r>
              <a:rPr dirty="0"/>
              <a:t> = </a:t>
            </a:r>
            <a:r>
              <a:rPr dirty="0" err="1"/>
              <a:t>P.MemberID</a:t>
            </a:r>
            <a:r>
              <a:rPr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57400" y="57378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rPr dirty="0"/>
              <a:t>Shows the payment made by each member.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AF5703-7FF5-2364-5A6B-F7096943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674" y="1765774"/>
            <a:ext cx="4457486" cy="38760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5. Find the total payment amount.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rPr dirty="0"/>
              <a:t>SELECT SUM(Amount) AS </a:t>
            </a:r>
            <a:r>
              <a:rPr dirty="0" err="1"/>
              <a:t>Total_Payment</a:t>
            </a:r>
            <a:br>
              <a:rPr dirty="0"/>
            </a:br>
            <a:r>
              <a:rPr dirty="0"/>
              <a:t>FROM PAYMENT;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57400" y="575157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rPr dirty="0"/>
              <a:t>SUM() calculates the total of all payment amounts.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6619E7-0FFC-F444-6026-77EAF35E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6" y="2664510"/>
            <a:ext cx="3097911" cy="9551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01168"/>
            <a:ext cx="7223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CD5712"/>
                </a:solidFill>
                <a:latin typeface="Georgia"/>
              </a:defRPr>
            </a:pPr>
            <a:r>
              <a:t>SQL QUERY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  <a:latin typeface="Arial"/>
              </a:defRPr>
            </a:pPr>
            <a:r>
              <a:t>Question 6. Display trainer and workout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94960" cy="4434840"/>
          </a:xfrm>
          <a:prstGeom prst="roundRect">
            <a:avLst/>
          </a:prstGeom>
          <a:solidFill>
            <a:srgbClr val="E1E7F5"/>
          </a:solidFill>
          <a:ln>
            <a:solidFill>
              <a:srgbClr val="48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937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>
                <a:solidFill>
                  <a:srgbClr val="242424"/>
                </a:solidFill>
                <a:latin typeface="Courier New"/>
              </a:defRPr>
            </a:pPr>
            <a:r>
              <a:rPr dirty="0"/>
              <a:t>SELECT </a:t>
            </a:r>
            <a:r>
              <a:rPr dirty="0" err="1"/>
              <a:t>T.TrainerName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W.WorkoutType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W.DurationWeeks</a:t>
            </a:r>
            <a:br>
              <a:rPr dirty="0"/>
            </a:br>
            <a:r>
              <a:rPr dirty="0"/>
              <a:t>FROM TRAINER T</a:t>
            </a:r>
            <a:br>
              <a:rPr dirty="0"/>
            </a:br>
            <a:r>
              <a:rPr dirty="0"/>
              <a:t>JOIN WORKOUT W</a:t>
            </a:r>
            <a:br>
              <a:rPr dirty="0"/>
            </a:br>
            <a:r>
              <a:rPr dirty="0"/>
              <a:t>ON </a:t>
            </a:r>
            <a:r>
              <a:rPr dirty="0" err="1"/>
              <a:t>T.TrainerID</a:t>
            </a:r>
            <a:r>
              <a:rPr dirty="0"/>
              <a:t> = </a:t>
            </a:r>
            <a:r>
              <a:rPr dirty="0" err="1"/>
              <a:t>W.TrainerID</a:t>
            </a:r>
            <a:r>
              <a:rPr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96888" y="57561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5712"/>
                </a:solidFill>
              </a:defRPr>
            </a:pPr>
            <a:r>
              <a:t>JOIN connects each workout to its trainer.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DBMS  |  Gym Membership Management System                                      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001A3E-77E0-F688-66EE-00B99682C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1624085"/>
            <a:ext cx="4588808" cy="41000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36F9-FA83-141F-53BF-E91C81BF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AD4FE3-49F8-AE7F-A1A5-58DCF481CC93}"/>
              </a:ext>
            </a:extLst>
          </p:cNvPr>
          <p:cNvSpPr txBox="1"/>
          <p:nvPr/>
        </p:nvSpPr>
        <p:spPr>
          <a:xfrm>
            <a:off x="11567160" y="155448"/>
            <a:ext cx="320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843F49-286C-AB9C-D5F4-4208614C3F2A}"/>
              </a:ext>
            </a:extLst>
          </p:cNvPr>
          <p:cNvGrpSpPr/>
          <p:nvPr/>
        </p:nvGrpSpPr>
        <p:grpSpPr>
          <a:xfrm>
            <a:off x="2928034" y="136524"/>
            <a:ext cx="5310747" cy="1235076"/>
            <a:chOff x="13004829" y="1407596"/>
            <a:chExt cx="6983401" cy="19093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B590388-85D1-3971-EAA0-B31C86FAA07E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23" name="object 3">
                <a:extLst>
                  <a:ext uri="{FF2B5EF4-FFF2-40B4-BE49-F238E27FC236}">
                    <a16:creationId xmlns:a16="http://schemas.microsoft.com/office/drawing/2014/main" id="{08A02A3C-F278-0594-2712-301FF6FB983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4" name="object 4">
                <a:extLst>
                  <a:ext uri="{FF2B5EF4-FFF2-40B4-BE49-F238E27FC236}">
                    <a16:creationId xmlns:a16="http://schemas.microsoft.com/office/drawing/2014/main" id="{AD085A33-15E9-AD7D-441F-CB3D384AF42D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42401A-DCEA-E90D-65EB-DE0FE09DC5EE}"/>
                </a:ext>
              </a:extLst>
            </p:cNvPr>
            <p:cNvSpPr/>
            <p:nvPr/>
          </p:nvSpPr>
          <p:spPr>
            <a:xfrm>
              <a:off x="14352899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FLOWCHART</a:t>
              </a:r>
              <a:endParaRPr sz="2400" b="1" dirty="0">
                <a:latin typeface="Book Antiqua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634A27B-045F-490F-DCE9-C8A78E9F8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3"/>
          <a:stretch>
            <a:fillRect/>
          </a:stretch>
        </p:blipFill>
        <p:spPr>
          <a:xfrm>
            <a:off x="695400" y="1268760"/>
            <a:ext cx="10560496" cy="463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96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7610-E468-5363-9342-837C3669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6711C8BC-AC4E-A47E-0B79-4B3E93A13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A7DF128-ED2C-DFCB-36C8-3BCF05FF300B}"/>
              </a:ext>
            </a:extLst>
          </p:cNvPr>
          <p:cNvGrpSpPr/>
          <p:nvPr/>
        </p:nvGrpSpPr>
        <p:grpSpPr>
          <a:xfrm>
            <a:off x="3863752" y="67963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49FE91-CA18-4999-A722-CA349224500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668E9506-5354-C1A0-F644-7F31BD0C0CB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C8DDFFA9-766B-5B7F-0993-B4BFEC9BA8B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5BF3A3-BE2F-0674-063B-EFBE94BC9857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Book Antiqua"/>
                </a:rPr>
                <a:t>CONCLUSION</a:t>
              </a:r>
              <a:endParaRPr sz="2400" b="1" dirty="0">
                <a:latin typeface="Book Antiqua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CA02A090-E7FC-6146-CF6B-E2237CB7BEEA}"/>
              </a:ext>
            </a:extLst>
          </p:cNvPr>
          <p:cNvSpPr/>
          <p:nvPr/>
        </p:nvSpPr>
        <p:spPr>
          <a:xfrm>
            <a:off x="661475" y="875507"/>
            <a:ext cx="5399449" cy="708422"/>
          </a:xfrm>
          <a:prstGeom prst="roundRect">
            <a:avLst>
              <a:gd name="adj" fmla="val 227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35D275F-FBDE-00ED-99FD-312847A8512E}"/>
              </a:ext>
            </a:extLst>
          </p:cNvPr>
          <p:cNvSpPr/>
          <p:nvPr/>
        </p:nvSpPr>
        <p:spPr>
          <a:xfrm>
            <a:off x="768926" y="982961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 Entities Designed</a:t>
            </a:r>
            <a:endParaRPr lang="en-US" sz="10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5E89ABA-6B78-EB7B-2D26-FEE0D7609D9C}"/>
              </a:ext>
            </a:extLst>
          </p:cNvPr>
          <p:cNvSpPr/>
          <p:nvPr/>
        </p:nvSpPr>
        <p:spPr>
          <a:xfrm>
            <a:off x="768926" y="1192709"/>
            <a:ext cx="518454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Member, Trainer, Membership, Payment, Attendance, Workout — each fully attributed with primary and foreign keys.</a:t>
            </a:r>
            <a:endParaRPr lang="en-US" sz="8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3842C58A-0619-E57B-755D-03C316A435C9}"/>
              </a:ext>
            </a:extLst>
          </p:cNvPr>
          <p:cNvSpPr/>
          <p:nvPr/>
        </p:nvSpPr>
        <p:spPr>
          <a:xfrm>
            <a:off x="6130772" y="875507"/>
            <a:ext cx="5399449" cy="708422"/>
          </a:xfrm>
          <a:prstGeom prst="roundRect">
            <a:avLst>
              <a:gd name="adj" fmla="val 227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8FE097C-C214-5434-BDD5-62EE551A58F5}"/>
              </a:ext>
            </a:extLst>
          </p:cNvPr>
          <p:cNvSpPr/>
          <p:nvPr/>
        </p:nvSpPr>
        <p:spPr>
          <a:xfrm>
            <a:off x="6238223" y="982961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 Relationships</a:t>
            </a:r>
            <a:endParaRPr lang="en-US" sz="10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148986B-670C-6FB4-B35F-BE49298DDF4A}"/>
              </a:ext>
            </a:extLst>
          </p:cNvPr>
          <p:cNvSpPr/>
          <p:nvPr/>
        </p:nvSpPr>
        <p:spPr>
          <a:xfrm>
            <a:off x="6238223" y="1192709"/>
            <a:ext cx="518454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relationships are </a:t>
            </a: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1:M cardinality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enforced through foreign key constraints across dependent tables.</a:t>
            </a:r>
            <a:endParaRPr lang="en-US" sz="8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AC9D290-E5F0-4466-F8FF-7089229D433E}"/>
              </a:ext>
            </a:extLst>
          </p:cNvPr>
          <p:cNvSpPr/>
          <p:nvPr/>
        </p:nvSpPr>
        <p:spPr>
          <a:xfrm>
            <a:off x="661475" y="1653779"/>
            <a:ext cx="5399449" cy="708422"/>
          </a:xfrm>
          <a:prstGeom prst="roundRect">
            <a:avLst>
              <a:gd name="adj" fmla="val 227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F476CB73-85F5-839A-6D95-3ECDD544E9FF}"/>
              </a:ext>
            </a:extLst>
          </p:cNvPr>
          <p:cNvSpPr/>
          <p:nvPr/>
        </p:nvSpPr>
        <p:spPr>
          <a:xfrm>
            <a:off x="768926" y="1761233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3NF Normalized</a:t>
            </a:r>
            <a:endParaRPr lang="en-US" sz="105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24FB668C-64B4-7ADA-FCD4-819B9939F4F7}"/>
              </a:ext>
            </a:extLst>
          </p:cNvPr>
          <p:cNvSpPr/>
          <p:nvPr/>
        </p:nvSpPr>
        <p:spPr>
          <a:xfrm>
            <a:off x="768926" y="1970981"/>
            <a:ext cx="518454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schema eliminates redundancy, partial dependencies, and transitive dependencies through full normalization.</a:t>
            </a:r>
            <a:endParaRPr lang="en-US" sz="800" dirty="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AB2F2DA6-A8F7-83DC-3237-31215F6F99B4}"/>
              </a:ext>
            </a:extLst>
          </p:cNvPr>
          <p:cNvSpPr/>
          <p:nvPr/>
        </p:nvSpPr>
        <p:spPr>
          <a:xfrm>
            <a:off x="6130772" y="1653779"/>
            <a:ext cx="5399449" cy="708422"/>
          </a:xfrm>
          <a:prstGeom prst="roundRect">
            <a:avLst>
              <a:gd name="adj" fmla="val 227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99C0E83E-67F7-A32C-EAC4-13BA6543CB4B}"/>
              </a:ext>
            </a:extLst>
          </p:cNvPr>
          <p:cNvSpPr/>
          <p:nvPr/>
        </p:nvSpPr>
        <p:spPr>
          <a:xfrm>
            <a:off x="6238223" y="1761233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Complete SQL Coverage</a:t>
            </a:r>
            <a:endParaRPr lang="en-US" sz="105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EF8D9861-0620-8F1E-3593-8B4BAF83C13C}"/>
              </a:ext>
            </a:extLst>
          </p:cNvPr>
          <p:cNvSpPr/>
          <p:nvPr/>
        </p:nvSpPr>
        <p:spPr>
          <a:xfrm>
            <a:off x="6238223" y="1970981"/>
            <a:ext cx="518454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DDL (CREATE), DML (INSERT, UPDATE, DELETE), and JOIN queries demonstrated for all core operations.</a:t>
            </a:r>
            <a:endParaRPr lang="en-US" sz="8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4578958D-9B60-BA03-00D2-A8C4D4E934DA}"/>
              </a:ext>
            </a:extLst>
          </p:cNvPr>
          <p:cNvSpPr/>
          <p:nvPr/>
        </p:nvSpPr>
        <p:spPr>
          <a:xfrm>
            <a:off x="626551" y="2478311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C2821">
              <a:alpha val="50000"/>
            </a:srgbClr>
          </a:solidFill>
          <a:ln/>
        </p:spPr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4016FADC-FB94-4E61-0C91-67C5346F33EC}"/>
              </a:ext>
            </a:extLst>
          </p:cNvPr>
          <p:cNvSpPr/>
          <p:nvPr/>
        </p:nvSpPr>
        <p:spPr>
          <a:xfrm>
            <a:off x="661476" y="2564160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942258CC-DCCD-7B63-2F7A-4983676F9F51}"/>
              </a:ext>
            </a:extLst>
          </p:cNvPr>
          <p:cNvSpPr/>
          <p:nvPr/>
        </p:nvSpPr>
        <p:spPr>
          <a:xfrm>
            <a:off x="1064889" y="260712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Gym Membership Management System provides a centralized and structured way to manage gym records.</a:t>
            </a:r>
            <a:endParaRPr lang="en-US" sz="100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6590DC2F-73EE-E58C-D9B6-E7CC6E62137C}"/>
              </a:ext>
            </a:extLst>
          </p:cNvPr>
          <p:cNvSpPr/>
          <p:nvPr/>
        </p:nvSpPr>
        <p:spPr>
          <a:xfrm>
            <a:off x="661476" y="307344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B17A6C6-B967-7653-646E-8E93F7BD8C52}"/>
              </a:ext>
            </a:extLst>
          </p:cNvPr>
          <p:cNvSpPr/>
          <p:nvPr/>
        </p:nvSpPr>
        <p:spPr>
          <a:xfrm>
            <a:off x="1064889" y="311641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manages Member, Trainer, Membership, Payment, Attendance, and Workout information.</a:t>
            </a:r>
            <a:endParaRPr lang="en-US" sz="1000" dirty="0"/>
          </a:p>
        </p:txBody>
      </p:sp>
      <p:sp>
        <p:nvSpPr>
          <p:cNvPr id="2049" name="Shape 7">
            <a:extLst>
              <a:ext uri="{FF2B5EF4-FFF2-40B4-BE49-F238E27FC236}">
                <a16:creationId xmlns:a16="http://schemas.microsoft.com/office/drawing/2014/main" id="{DF3AC00D-B760-93BE-DE02-387A1F84DCDB}"/>
              </a:ext>
            </a:extLst>
          </p:cNvPr>
          <p:cNvSpPr/>
          <p:nvPr/>
        </p:nvSpPr>
        <p:spPr>
          <a:xfrm>
            <a:off x="661476" y="358273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52" name="Text 8">
            <a:extLst>
              <a:ext uri="{FF2B5EF4-FFF2-40B4-BE49-F238E27FC236}">
                <a16:creationId xmlns:a16="http://schemas.microsoft.com/office/drawing/2014/main" id="{33B2A9DE-A66D-C94A-6405-947A598ED5E4}"/>
              </a:ext>
            </a:extLst>
          </p:cNvPr>
          <p:cNvSpPr/>
          <p:nvPr/>
        </p:nvSpPr>
        <p:spPr>
          <a:xfrm>
            <a:off x="1064889" y="362570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reduces the problems associated with manual and scattered record keeping.</a:t>
            </a:r>
            <a:endParaRPr lang="en-US" sz="1000" dirty="0"/>
          </a:p>
        </p:txBody>
      </p:sp>
      <p:sp>
        <p:nvSpPr>
          <p:cNvPr id="2055" name="Shape 9">
            <a:extLst>
              <a:ext uri="{FF2B5EF4-FFF2-40B4-BE49-F238E27FC236}">
                <a16:creationId xmlns:a16="http://schemas.microsoft.com/office/drawing/2014/main" id="{3102D7E7-EF46-B1E5-6999-1C6EFE237635}"/>
              </a:ext>
            </a:extLst>
          </p:cNvPr>
          <p:cNvSpPr/>
          <p:nvPr/>
        </p:nvSpPr>
        <p:spPr>
          <a:xfrm>
            <a:off x="661476" y="409202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58" name="Text 10">
            <a:extLst>
              <a:ext uri="{FF2B5EF4-FFF2-40B4-BE49-F238E27FC236}">
                <a16:creationId xmlns:a16="http://schemas.microsoft.com/office/drawing/2014/main" id="{96DEFD84-E8BB-7789-7287-3C70CE6144C7}"/>
              </a:ext>
            </a:extLst>
          </p:cNvPr>
          <p:cNvSpPr/>
          <p:nvPr/>
        </p:nvSpPr>
        <p:spPr>
          <a:xfrm>
            <a:off x="1064889" y="413499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keys and foreign keys help maintain data integrity and relationships between entities.</a:t>
            </a:r>
            <a:endParaRPr lang="en-US" sz="1000" dirty="0"/>
          </a:p>
        </p:txBody>
      </p:sp>
      <p:sp>
        <p:nvSpPr>
          <p:cNvPr id="2060" name="Shape 11">
            <a:extLst>
              <a:ext uri="{FF2B5EF4-FFF2-40B4-BE49-F238E27FC236}">
                <a16:creationId xmlns:a16="http://schemas.microsoft.com/office/drawing/2014/main" id="{D03591AF-F735-A291-C9CD-49B3A7D85BC8}"/>
              </a:ext>
            </a:extLst>
          </p:cNvPr>
          <p:cNvSpPr/>
          <p:nvPr/>
        </p:nvSpPr>
        <p:spPr>
          <a:xfrm>
            <a:off x="661476" y="460131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63" name="Text 12">
            <a:extLst>
              <a:ext uri="{FF2B5EF4-FFF2-40B4-BE49-F238E27FC236}">
                <a16:creationId xmlns:a16="http://schemas.microsoft.com/office/drawing/2014/main" id="{A8E010AB-D285-9660-60F6-3256EE100560}"/>
              </a:ext>
            </a:extLst>
          </p:cNvPr>
          <p:cNvSpPr/>
          <p:nvPr/>
        </p:nvSpPr>
        <p:spPr>
          <a:xfrm>
            <a:off x="1064889" y="464428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1:M relationships effectively represent the major interactions in the system.</a:t>
            </a:r>
            <a:endParaRPr lang="en-US" sz="1000" dirty="0"/>
          </a:p>
        </p:txBody>
      </p:sp>
      <p:sp>
        <p:nvSpPr>
          <p:cNvPr id="2066" name="Shape 13">
            <a:extLst>
              <a:ext uri="{FF2B5EF4-FFF2-40B4-BE49-F238E27FC236}">
                <a16:creationId xmlns:a16="http://schemas.microsoft.com/office/drawing/2014/main" id="{695F5D36-3F64-21E0-20B9-ABF649B45D7E}"/>
              </a:ext>
            </a:extLst>
          </p:cNvPr>
          <p:cNvSpPr/>
          <p:nvPr/>
        </p:nvSpPr>
        <p:spPr>
          <a:xfrm>
            <a:off x="661476" y="511060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68" name="Text 14">
            <a:extLst>
              <a:ext uri="{FF2B5EF4-FFF2-40B4-BE49-F238E27FC236}">
                <a16:creationId xmlns:a16="http://schemas.microsoft.com/office/drawing/2014/main" id="{26473D44-7053-4FDD-2BB8-C8F8D2B232D7}"/>
              </a:ext>
            </a:extLst>
          </p:cNvPr>
          <p:cNvSpPr/>
          <p:nvPr/>
        </p:nvSpPr>
        <p:spPr>
          <a:xfrm>
            <a:off x="1064889" y="5153571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relational database design helps reduce redundancy and improve consistency.</a:t>
            </a:r>
            <a:endParaRPr lang="en-US" sz="1000" dirty="0"/>
          </a:p>
        </p:txBody>
      </p:sp>
      <p:sp>
        <p:nvSpPr>
          <p:cNvPr id="2071" name="Shape 15">
            <a:extLst>
              <a:ext uri="{FF2B5EF4-FFF2-40B4-BE49-F238E27FC236}">
                <a16:creationId xmlns:a16="http://schemas.microsoft.com/office/drawing/2014/main" id="{0B66A23A-C48C-9DC2-C78D-951C889AC21D}"/>
              </a:ext>
            </a:extLst>
          </p:cNvPr>
          <p:cNvSpPr/>
          <p:nvPr/>
        </p:nvSpPr>
        <p:spPr>
          <a:xfrm>
            <a:off x="661476" y="561989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74" name="Text 16">
            <a:extLst>
              <a:ext uri="{FF2B5EF4-FFF2-40B4-BE49-F238E27FC236}">
                <a16:creationId xmlns:a16="http://schemas.microsoft.com/office/drawing/2014/main" id="{D427D4A5-B119-DCDB-7E52-EA699AE91604}"/>
              </a:ext>
            </a:extLst>
          </p:cNvPr>
          <p:cNvSpPr/>
          <p:nvPr/>
        </p:nvSpPr>
        <p:spPr>
          <a:xfrm>
            <a:off x="1064889" y="5662860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enables faster and more accurate retrieval of gym information.</a:t>
            </a:r>
            <a:endParaRPr lang="en-US" sz="1000" dirty="0"/>
          </a:p>
        </p:txBody>
      </p:sp>
      <p:sp>
        <p:nvSpPr>
          <p:cNvPr id="2076" name="Shape 17">
            <a:extLst>
              <a:ext uri="{FF2B5EF4-FFF2-40B4-BE49-F238E27FC236}">
                <a16:creationId xmlns:a16="http://schemas.microsoft.com/office/drawing/2014/main" id="{F7ABD25C-EF05-7648-ABF9-48479FDE8DE9}"/>
              </a:ext>
            </a:extLst>
          </p:cNvPr>
          <p:cNvSpPr/>
          <p:nvPr/>
        </p:nvSpPr>
        <p:spPr>
          <a:xfrm>
            <a:off x="661476" y="6129189"/>
            <a:ext cx="297649" cy="297656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79" name="Text 18">
            <a:extLst>
              <a:ext uri="{FF2B5EF4-FFF2-40B4-BE49-F238E27FC236}">
                <a16:creationId xmlns:a16="http://schemas.microsoft.com/office/drawing/2014/main" id="{115B1D40-B53D-1F51-F2C2-837117F2D249}"/>
              </a:ext>
            </a:extLst>
          </p:cNvPr>
          <p:cNvSpPr/>
          <p:nvPr/>
        </p:nvSpPr>
        <p:spPr>
          <a:xfrm>
            <a:off x="1064889" y="6172150"/>
            <a:ext cx="10465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project provides a strong foundation for future expansion of gym management features.</a:t>
            </a:r>
            <a:endParaRPr lang="en-US" sz="1000" dirty="0"/>
          </a:p>
        </p:txBody>
      </p:sp>
      <p:sp>
        <p:nvSpPr>
          <p:cNvPr id="2082" name="Text 19">
            <a:extLst>
              <a:ext uri="{FF2B5EF4-FFF2-40B4-BE49-F238E27FC236}">
                <a16:creationId xmlns:a16="http://schemas.microsoft.com/office/drawing/2014/main" id="{36DC032B-B268-FB6A-E4CD-CB666C0D59A0}"/>
              </a:ext>
            </a:extLst>
          </p:cNvPr>
          <p:cNvSpPr/>
          <p:nvPr/>
        </p:nvSpPr>
        <p:spPr>
          <a:xfrm>
            <a:off x="661476" y="6545907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Overall, the proposed system provides an organized, reliable, and efficient database solution for managing essential gym operations.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3998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44F4-E1F2-2455-CE8B-B0A797AC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BD0C6444-2E10-3F49-9D1A-15B19451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2433DC0-B370-18C1-5EB5-A3CC2C89AE91}"/>
              </a:ext>
            </a:extLst>
          </p:cNvPr>
          <p:cNvSpPr/>
          <p:nvPr/>
        </p:nvSpPr>
        <p:spPr>
          <a:xfrm>
            <a:off x="661475" y="2479477"/>
            <a:ext cx="10868745" cy="82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200" dirty="0">
                <a:solidFill>
                  <a:srgbClr val="233E32"/>
                </a:solidFill>
                <a:latin typeface="Algerian" panose="04020705040A02060702" pitchFamily="82" charset="0"/>
                <a:ea typeface="Alice" pitchFamily="34" charset="-122"/>
                <a:cs typeface="Alice" pitchFamily="34" charset="-120"/>
              </a:rPr>
              <a:t>Thank You</a:t>
            </a:r>
            <a:endParaRPr lang="en-US" sz="5200" dirty="0">
              <a:latin typeface="Algerian" panose="04020705040A02060702" pitchFamily="82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700C67F-59F4-F306-A973-176E64CD0C12}"/>
              </a:ext>
            </a:extLst>
          </p:cNvPr>
          <p:cNvSpPr/>
          <p:nvPr/>
        </p:nvSpPr>
        <p:spPr>
          <a:xfrm>
            <a:off x="479376" y="3943812"/>
            <a:ext cx="108687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GYM MEMBERSHIP MANAGEMENT SYSTEM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DBMS Cornerstone Project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0356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696</TotalTime>
  <Words>3889</Words>
  <Application>Microsoft Office PowerPoint</Application>
  <PresentationFormat>Widescreen</PresentationFormat>
  <Paragraphs>667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Algerian</vt:lpstr>
      <vt:lpstr>Alice</vt:lpstr>
      <vt:lpstr>Aptos</vt:lpstr>
      <vt:lpstr>Arial</vt:lpstr>
      <vt:lpstr>Book Antiqua</vt:lpstr>
      <vt:lpstr>Calibri</vt:lpstr>
      <vt:lpstr>Calibri Light</vt:lpstr>
      <vt:lpstr>Consolas</vt:lpstr>
      <vt:lpstr>Courier New</vt:lpstr>
      <vt:lpstr>Lora</vt:lpstr>
      <vt:lpstr>Lora Bold</vt:lpstr>
      <vt:lpstr>Maiandra GD</vt:lpstr>
      <vt:lpstr>Nirmala UI Semilight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 p Uday Kumar</cp:lastModifiedBy>
  <cp:revision>779</cp:revision>
  <cp:lastPrinted>2023-06-09T04:58:00Z</cp:lastPrinted>
  <dcterms:created xsi:type="dcterms:W3CDTF">2019-12-14T03:50:00Z</dcterms:created>
  <dcterms:modified xsi:type="dcterms:W3CDTF">2026-10-01T08:28:58Z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CEEA12B867A34B2EA3351580BBA32A47_12</vt:lpwstr>
  </property>
  <property fmtid="{D5CDD505-2E9C-101B-9397-08002B2CF9AE}" pid="3" name="KSOProductBuildVer">
    <vt:lpwstr>1033-12.2.0.21931</vt:lpwstr>
  </property>
</Properties>
</file>